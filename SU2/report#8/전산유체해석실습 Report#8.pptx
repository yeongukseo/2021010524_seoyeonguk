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1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영욱 서" initials="영서" lastIdx="1" clrIdx="0">
    <p:extLst>
      <p:ext uri="{19B8F6BF-5375-455C-9EA6-DF929625EA0E}">
        <p15:presenceInfo xmlns:p15="http://schemas.microsoft.com/office/powerpoint/2012/main" userId="70bb319f796d8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4C6C3-4B64-4BEE-9E79-9AFC29C19C56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371EA-D0BF-4D8B-A6A4-CD378511A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D538-E0BC-7308-28D2-43514F2F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DC74A-91F3-28DC-7F97-8EBB3786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E88BF-38F3-353F-82AF-2FBE694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5A6F7-0644-5EDA-A4EB-59F281D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A42BA-C21F-43E8-D21B-50756A2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2336-B39B-7A87-FECA-207E3EFA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CABED-FD39-DDF7-0EC4-87341A30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D9D23-CB21-A9E4-535D-EF15C8A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CE33B-F7D7-23A6-6049-C5836E06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A46D0-CA1B-4CED-0873-829296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1973-E5A6-2BCB-A300-E89AC82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0CBA4-0AD4-3BD2-9B0D-73ED5E19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3A908-96D0-50EB-25F6-EAC25CA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FD381-55D0-AF97-C9C7-64FBA37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9B419-03FB-5055-B181-C8E155BF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3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07E88-284F-41A3-347B-ABBFB7C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FDF03-D9D3-EB28-1A21-E3F418A92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F90D6-10DC-3101-10E3-93FF46AA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0B950-880A-FC92-6D92-6F9A1550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C4088-58AB-0149-C96B-B363E2D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E4181-57E7-E574-2A38-2FCFFE9F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3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E625-87F0-46AC-264C-5B602388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39932-1932-E27A-4BEF-2CCF39E2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E0941-2273-14B8-E068-EAFC24FB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60496-B1A0-3A85-3A48-2DFB64706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8B5016-7B28-E46A-7E1F-2ED013AE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97375-0B57-2BD3-3CD6-8C66E46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E821-6E71-E555-D5B8-1D1B85CB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440AD-D382-F732-CF5B-A4F1A85C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6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22F6-3F11-0AFD-9875-29E70C2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4CB5A-A43E-464E-F897-4A306683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7DF48-D9CE-4582-9618-A01FD921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84C1-91F9-C548-7AA3-EDF41EB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72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230393-DA7A-BC7D-A320-919730A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7730F-51AC-F02A-62E4-D5DBCADF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BE098-DFC2-4D19-D7A0-F65D07C3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57A73-20B9-171D-AE51-78E57356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271EF-102B-B419-B574-BED8F054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FBA2B-3F51-AE95-C83E-86E888528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363FC-3258-CC49-302E-FDA2EBEC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36E45-27B3-22FC-6F47-0413610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A245-A971-209C-06C2-5D294127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C075-2819-C5D1-6973-447E3C60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434F13-0F9F-0B39-A6A9-65648A53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A81E-F20A-3E11-5D75-1766D0542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12A1C-B942-90CA-111F-5F48792C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8F9D6-B03D-CA64-73AE-AB89C021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1D58BD-81CC-86B6-8A8D-5F14FA24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5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567D-F862-F277-A832-A7DC065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6F215-DAB2-C61E-BDBD-047F4D7F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EA279-D659-39B8-2BFB-865CFF6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77EE5-C132-39E5-C8E1-89644174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B4AC9-59BB-AC32-1E7E-91EE516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6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26FDD4-6CCB-7DD2-24B3-C083293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EA425-C5C0-6033-9363-A5D57580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208B-347E-6199-ADE3-065D1A02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AAD13-0936-D927-C870-BCAAD71E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1275F-F4C9-0F07-7E13-05C769FD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B7BC00-C3EB-448B-C508-6B9707B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FE2A5-75F0-E003-F86B-808E3CC4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07D81-1382-7A52-7A52-3D9BC5E66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7C39-D66B-42AF-B5B6-308CD87EA4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A9A7-28E9-1634-E03D-D15B0406C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BC988-13B8-A7B3-AEB1-E21C218A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AEE9-835B-1C4F-CDAC-9A804C4CA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전산유체해석실습</a:t>
            </a:r>
            <a:r>
              <a:rPr lang="ko-KR" altLang="en-US" sz="4800" dirty="0"/>
              <a:t> </a:t>
            </a:r>
            <a:br>
              <a:rPr lang="en-US" altLang="ko-KR" sz="4800" dirty="0"/>
            </a:br>
            <a:r>
              <a:rPr lang="en-US" altLang="ko-KR" sz="4800" dirty="0"/>
              <a:t>Report#8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2D78A-2357-FC35-B7B2-DFA5E54C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6083"/>
            <a:ext cx="9144000" cy="826367"/>
          </a:xfrm>
        </p:spPr>
        <p:txBody>
          <a:bodyPr/>
          <a:lstStyle/>
          <a:p>
            <a:r>
              <a:rPr lang="en-US" altLang="ko-KR" dirty="0"/>
              <a:t>2021010524 </a:t>
            </a:r>
            <a:r>
              <a:rPr lang="ko-KR" altLang="en-US" dirty="0"/>
              <a:t>서영욱</a:t>
            </a:r>
          </a:p>
        </p:txBody>
      </p:sp>
    </p:spTree>
    <p:extLst>
      <p:ext uri="{BB962C8B-B14F-4D97-AF65-F5344CB8AC3E}">
        <p14:creationId xmlns:p14="http://schemas.microsoft.com/office/powerpoint/2010/main" val="296081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5B95E-4068-98EF-B9DF-5112B003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유동조건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84797-AA8B-4115-F204-9E2B012554A4}"/>
              </a:ext>
            </a:extLst>
          </p:cNvPr>
          <p:cNvSpPr txBox="1"/>
          <p:nvPr/>
        </p:nvSpPr>
        <p:spPr>
          <a:xfrm>
            <a:off x="721895" y="1297426"/>
            <a:ext cx="56506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Solver : RANS (Reynolds-Averaged Navier–Stokes)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난류 모델 </a:t>
            </a:r>
            <a:r>
              <a:rPr lang="en-US" altLang="ko-KR" dirty="0"/>
              <a:t>: </a:t>
            </a:r>
            <a:r>
              <a:rPr lang="en-US" altLang="ko-KR" dirty="0" err="1"/>
              <a:t>Spalart</a:t>
            </a:r>
            <a:r>
              <a:rPr lang="en-US" altLang="ko-KR" dirty="0"/>
              <a:t>–Allmaras (SA)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모델마하수</a:t>
            </a:r>
            <a:r>
              <a:rPr lang="ko-KR" altLang="en-US" dirty="0"/>
              <a:t> </a:t>
            </a:r>
            <a:r>
              <a:rPr lang="en-US" altLang="ko-KR" dirty="0"/>
              <a:t>: M = 0.8395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받음각</a:t>
            </a:r>
            <a:r>
              <a:rPr lang="en-US" altLang="ko-KR" dirty="0"/>
              <a:t>(</a:t>
            </a:r>
            <a:r>
              <a:rPr lang="en-US" altLang="ko-KR" dirty="0" err="1"/>
              <a:t>AoA</a:t>
            </a:r>
            <a:r>
              <a:rPr lang="en-US" altLang="ko-KR" dirty="0"/>
              <a:t>) : 6.06°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Reynolds </a:t>
            </a:r>
            <a:r>
              <a:rPr lang="ko-KR" altLang="en-US" dirty="0"/>
              <a:t>수 </a:t>
            </a:r>
            <a:r>
              <a:rPr lang="en-US" altLang="ko-KR" dirty="0"/>
              <a:t>: 11.72 × 10⁶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Reynolds </a:t>
            </a:r>
            <a:r>
              <a:rPr lang="ko-KR" altLang="en-US" dirty="0"/>
              <a:t>기준 길이</a:t>
            </a:r>
            <a:r>
              <a:rPr lang="en-US" altLang="ko-KR" dirty="0"/>
              <a:t>: 0.64607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유체 모델 </a:t>
            </a:r>
            <a:r>
              <a:rPr lang="en-US" altLang="ko-KR" dirty="0"/>
              <a:t>: Standard Air (</a:t>
            </a:r>
            <a:r>
              <a:rPr lang="el-GR" altLang="ko-KR" dirty="0"/>
              <a:t>γ = 1.4)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점성 모델 </a:t>
            </a:r>
            <a:r>
              <a:rPr lang="en-US" altLang="ko-KR" dirty="0"/>
              <a:t>: Sutherland </a:t>
            </a:r>
            <a:r>
              <a:rPr lang="ko-KR" altLang="en-US" dirty="0"/>
              <a:t>법칙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온도 </a:t>
            </a:r>
            <a:r>
              <a:rPr lang="en-US" altLang="ko-KR" dirty="0"/>
              <a:t>: 288.15 K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AF87AB5-19E8-36D3-D9F9-2828FA09A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749" y="923827"/>
            <a:ext cx="5275037" cy="583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0375-18A9-63F4-EB08-89564B71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0AC55-F320-145C-4D3A-B41120CB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(Section_22)</a:t>
            </a:r>
            <a:endParaRPr lang="ko-KR" altLang="en-US" sz="3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2FD051-CCAB-BA14-65FC-B87293162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93" y="2677688"/>
            <a:ext cx="6884213" cy="3987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71DEDE-B059-1F79-5B3C-D1DD4F6E0F63}"/>
              </a:ext>
            </a:extLst>
          </p:cNvPr>
          <p:cNvSpPr txBox="1"/>
          <p:nvPr/>
        </p:nvSpPr>
        <p:spPr>
          <a:xfrm>
            <a:off x="1144571" y="1430354"/>
            <a:ext cx="10209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22% </a:t>
            </a:r>
            <a:r>
              <a:rPr lang="ko-KR" altLang="en-US" dirty="0"/>
              <a:t>단면에서는 </a:t>
            </a:r>
            <a:r>
              <a:rPr lang="en-US" altLang="ko-KR" dirty="0"/>
              <a:t>SU2</a:t>
            </a:r>
            <a:r>
              <a:rPr lang="ko-KR" altLang="en-US" dirty="0"/>
              <a:t>의 </a:t>
            </a:r>
            <a:r>
              <a:rPr lang="en-US" altLang="ko-KR" dirty="0"/>
              <a:t>leading-edge suction peak</a:t>
            </a:r>
            <a:r>
              <a:rPr lang="ko-KR" altLang="en-US" dirty="0"/>
              <a:t>가 실험보다 다소 약하게 예측되며</a:t>
            </a:r>
            <a:r>
              <a:rPr lang="en-US" altLang="ko-KR" dirty="0"/>
              <a:t>, </a:t>
            </a:r>
            <a:r>
              <a:rPr lang="ko-KR" altLang="en-US" dirty="0"/>
              <a:t>윗면 중반부에서는 </a:t>
            </a:r>
            <a:r>
              <a:rPr lang="en-US" altLang="ko-KR" dirty="0"/>
              <a:t>SU2</a:t>
            </a:r>
            <a:r>
              <a:rPr lang="ko-KR" altLang="en-US" dirty="0"/>
              <a:t>가 약간 </a:t>
            </a:r>
            <a:r>
              <a:rPr lang="ko-KR" altLang="en-US" dirty="0" err="1"/>
              <a:t>과대예측되는</a:t>
            </a:r>
            <a:r>
              <a:rPr lang="ko-KR" altLang="en-US" dirty="0"/>
              <a:t> 경향을 보이지만 전체적인 </a:t>
            </a:r>
            <a:r>
              <a:rPr lang="ko-KR" altLang="en-US" dirty="0" err="1"/>
              <a:t>압력면</a:t>
            </a:r>
            <a:r>
              <a:rPr lang="ko-KR" altLang="en-US" dirty="0"/>
              <a:t> 분포는 실험과 잘 일치한다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00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FCE2-2F07-5B8E-D83C-CBD951B5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83A43-17E1-ABB9-4775-407BCD56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(Section_44)</a:t>
            </a:r>
            <a:endParaRPr lang="ko-KR" altLang="en-US"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B9BE3E-7A8A-5527-E669-239C3E16F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539" y="2477393"/>
            <a:ext cx="8128921" cy="40538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F91CD3-4421-1978-0A6C-3EF318A7A237}"/>
              </a:ext>
            </a:extLst>
          </p:cNvPr>
          <p:cNvSpPr txBox="1"/>
          <p:nvPr/>
        </p:nvSpPr>
        <p:spPr>
          <a:xfrm>
            <a:off x="1144571" y="1430354"/>
            <a:ext cx="1020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44% </a:t>
            </a:r>
            <a:r>
              <a:rPr lang="ko-KR" altLang="en-US" dirty="0"/>
              <a:t>단면에서는 </a:t>
            </a:r>
            <a:r>
              <a:rPr lang="en-US" altLang="ko-KR" dirty="0"/>
              <a:t>leading-edge </a:t>
            </a:r>
            <a:r>
              <a:rPr lang="ko-KR" altLang="en-US" dirty="0"/>
              <a:t>근처에서 </a:t>
            </a:r>
            <a:r>
              <a:rPr lang="en-US" altLang="ko-KR" dirty="0"/>
              <a:t>SU2</a:t>
            </a:r>
            <a:r>
              <a:rPr lang="ko-KR" altLang="en-US" dirty="0"/>
              <a:t>가 실험 데이터와 유사한 </a:t>
            </a:r>
            <a:r>
              <a:rPr lang="en-US" altLang="ko-KR" dirty="0"/>
              <a:t>suction peak</a:t>
            </a:r>
            <a:r>
              <a:rPr lang="ko-KR" altLang="en-US" dirty="0"/>
              <a:t>를 보이며</a:t>
            </a:r>
            <a:r>
              <a:rPr lang="en-US" altLang="ko-KR" dirty="0"/>
              <a:t>, </a:t>
            </a:r>
            <a:r>
              <a:rPr lang="ko-KR" altLang="en-US" dirty="0"/>
              <a:t>윗면 중</a:t>
            </a:r>
            <a:r>
              <a:rPr lang="en-US" altLang="ko-KR" dirty="0"/>
              <a:t>·</a:t>
            </a:r>
            <a:r>
              <a:rPr lang="ko-KR" altLang="en-US" dirty="0"/>
              <a:t>후반부에서는 실험 대비 완만한 압력 회복 경향을 나타낸다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48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CECF-5017-CE60-E00A-C90FA7F9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E22BD-6919-3B52-2CF7-21CA0EC8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(Section_65)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860E1B-CF7A-3C6C-0BE9-52A6D78B8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853" y="2192770"/>
            <a:ext cx="7713451" cy="44360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C52781-1CFB-B63B-1206-2A272E1DA235}"/>
              </a:ext>
            </a:extLst>
          </p:cNvPr>
          <p:cNvSpPr txBox="1"/>
          <p:nvPr/>
        </p:nvSpPr>
        <p:spPr>
          <a:xfrm>
            <a:off x="1144571" y="1430354"/>
            <a:ext cx="1020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65% </a:t>
            </a:r>
            <a:r>
              <a:rPr lang="ko-KR" altLang="en-US" dirty="0"/>
              <a:t>단면에서는 </a:t>
            </a:r>
            <a:r>
              <a:rPr lang="en-US" altLang="ko-KR" dirty="0"/>
              <a:t>SU2</a:t>
            </a:r>
            <a:r>
              <a:rPr lang="ko-KR" altLang="en-US" dirty="0"/>
              <a:t>가 실험과 비교적 잘 일치한다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647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C5BF-E39D-4D7C-28F5-86875D86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3A583-CBF5-2465-616C-00D221D0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(Section_8)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B34E5B-267C-EE87-4DAC-79BA8B3AC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845" y="2618545"/>
            <a:ext cx="6996310" cy="40663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CB1F96-B3DE-4F70-41F5-EB3099C7B9CD}"/>
              </a:ext>
            </a:extLst>
          </p:cNvPr>
          <p:cNvSpPr txBox="1"/>
          <p:nvPr/>
        </p:nvSpPr>
        <p:spPr>
          <a:xfrm>
            <a:off x="1144571" y="1430354"/>
            <a:ext cx="1020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80% </a:t>
            </a:r>
            <a:r>
              <a:rPr lang="ko-KR" altLang="en-US" dirty="0"/>
              <a:t>단면에서는 </a:t>
            </a:r>
            <a:r>
              <a:rPr lang="en-US" altLang="ko-KR" dirty="0"/>
              <a:t>leading-edge suction peak </a:t>
            </a:r>
            <a:r>
              <a:rPr lang="ko-KR" altLang="en-US" dirty="0"/>
              <a:t>이후 </a:t>
            </a:r>
            <a:r>
              <a:rPr lang="en-US" altLang="ko-KR" dirty="0"/>
              <a:t>SU2 </a:t>
            </a:r>
            <a:r>
              <a:rPr lang="ko-KR" altLang="en-US" dirty="0"/>
              <a:t>결과가 실험보다 늦게 압력 회복을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505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8C06-0878-76A7-4408-5A8AEE51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8150C-717F-6268-AC2A-E656D2CC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(Section_9)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723BE9-D566-5DBF-EB1D-2FDE5C2D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219" y="2514486"/>
            <a:ext cx="8095880" cy="39796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F25947-1315-8F8E-9CB5-CA11BD5E3A6A}"/>
              </a:ext>
            </a:extLst>
          </p:cNvPr>
          <p:cNvSpPr txBox="1"/>
          <p:nvPr/>
        </p:nvSpPr>
        <p:spPr>
          <a:xfrm>
            <a:off x="1144571" y="1430354"/>
            <a:ext cx="1020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90% </a:t>
            </a:r>
            <a:r>
              <a:rPr lang="ko-KR" altLang="en-US" dirty="0"/>
              <a:t>단면에서는 </a:t>
            </a:r>
            <a:r>
              <a:rPr lang="en-US" altLang="ko-KR" dirty="0"/>
              <a:t>SU2</a:t>
            </a:r>
            <a:r>
              <a:rPr lang="ko-KR" altLang="en-US" dirty="0"/>
              <a:t>가 윗면 초반의 압력 특성은 잘 재현하지만</a:t>
            </a:r>
            <a:r>
              <a:rPr lang="en-US" altLang="ko-KR" dirty="0"/>
              <a:t>, su2</a:t>
            </a:r>
            <a:r>
              <a:rPr lang="ko-KR" altLang="en-US" dirty="0"/>
              <a:t>가 </a:t>
            </a:r>
            <a:r>
              <a:rPr lang="en-US" altLang="ko-KR" dirty="0"/>
              <a:t>x/c = 0.2</a:t>
            </a:r>
            <a:r>
              <a:rPr lang="ko-KR" altLang="en-US" dirty="0"/>
              <a:t>이후로 압력회복이 더 빨리 시작된다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03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40622-19E4-C2EC-3CF0-2E3474CC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52F12-CECD-98E0-F0AF-552D3FE4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(Section_96)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761E0D-2143-4466-6DD5-1F570876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490" y="2423001"/>
            <a:ext cx="6759019" cy="41626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3BCE6F-31FE-F198-C7C8-22F40D2046BD}"/>
              </a:ext>
            </a:extLst>
          </p:cNvPr>
          <p:cNvSpPr txBox="1"/>
          <p:nvPr/>
        </p:nvSpPr>
        <p:spPr>
          <a:xfrm>
            <a:off x="1144571" y="1430354"/>
            <a:ext cx="1020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96% </a:t>
            </a:r>
            <a:r>
              <a:rPr lang="ko-KR" altLang="en-US" dirty="0"/>
              <a:t>단면에서는 </a:t>
            </a:r>
            <a:r>
              <a:rPr lang="en-US" altLang="ko-KR" dirty="0"/>
              <a:t>Tip vortex </a:t>
            </a:r>
            <a:r>
              <a:rPr lang="ko-KR" altLang="en-US" dirty="0"/>
              <a:t>영향이 시작되면서 </a:t>
            </a:r>
            <a:r>
              <a:rPr lang="en-US" altLang="ko-KR" dirty="0"/>
              <a:t>SU2</a:t>
            </a:r>
            <a:r>
              <a:rPr lang="ko-KR" altLang="en-US" dirty="0"/>
              <a:t>와 실험 간 </a:t>
            </a:r>
            <a:r>
              <a:rPr lang="ko-KR" altLang="en-US" dirty="0" err="1"/>
              <a:t>흡입면</a:t>
            </a:r>
            <a:r>
              <a:rPr lang="ko-KR" altLang="en-US" dirty="0"/>
              <a:t> </a:t>
            </a:r>
            <a:r>
              <a:rPr lang="en-US" altLang="ko-KR" dirty="0"/>
              <a:t>Cp </a:t>
            </a:r>
            <a:r>
              <a:rPr lang="ko-KR" altLang="en-US" dirty="0"/>
              <a:t>차이가 증가하며</a:t>
            </a:r>
            <a:r>
              <a:rPr lang="en-US" altLang="ko-KR" dirty="0"/>
              <a:t>, SU2</a:t>
            </a:r>
            <a:r>
              <a:rPr lang="ko-KR" altLang="en-US" dirty="0"/>
              <a:t>가 실험에 비해 약한 흡입 성능을 예측하는 경향을 보였다</a:t>
            </a:r>
          </a:p>
        </p:txBody>
      </p:sp>
    </p:spTree>
    <p:extLst>
      <p:ext uri="{BB962C8B-B14F-4D97-AF65-F5344CB8AC3E}">
        <p14:creationId xmlns:p14="http://schemas.microsoft.com/office/powerpoint/2010/main" val="14245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888E-D0E9-E83A-7B42-EB1EC924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C545D-D96D-27E7-D121-E5E32B707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해석결과</a:t>
            </a:r>
            <a:r>
              <a:rPr lang="en-US" altLang="ko-KR" sz="3600" dirty="0"/>
              <a:t>(Section_99)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871F2D-D77C-F008-70F6-90C7B4D8D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296" y="3666165"/>
            <a:ext cx="6479408" cy="3106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92FABC-B66B-0A3C-E851-E2C145D4DD3A}"/>
              </a:ext>
            </a:extLst>
          </p:cNvPr>
          <p:cNvSpPr txBox="1"/>
          <p:nvPr/>
        </p:nvSpPr>
        <p:spPr>
          <a:xfrm>
            <a:off x="1144571" y="1430354"/>
            <a:ext cx="10209229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</a:t>
            </a:r>
            <a:r>
              <a:rPr lang="en-US" altLang="ko-KR" dirty="0"/>
              <a:t>99% </a:t>
            </a:r>
            <a:r>
              <a:rPr lang="ko-KR" altLang="en-US" dirty="0"/>
              <a:t>단면에서는 </a:t>
            </a:r>
            <a:r>
              <a:rPr lang="en-US" altLang="ko-KR" dirty="0"/>
              <a:t>Tip vortex </a:t>
            </a:r>
            <a:r>
              <a:rPr lang="ko-KR" altLang="en-US" dirty="0"/>
              <a:t>영향이 가장 크게 나타나 실험에서는 윗면의 </a:t>
            </a:r>
            <a:r>
              <a:rPr lang="en-US" altLang="ko-KR" dirty="0"/>
              <a:t>Cp</a:t>
            </a:r>
            <a:r>
              <a:rPr lang="ko-KR" altLang="en-US" dirty="0"/>
              <a:t>가 </a:t>
            </a:r>
            <a:r>
              <a:rPr lang="en-US" altLang="ko-KR" dirty="0"/>
              <a:t>x/c &gt; 0.5 </a:t>
            </a:r>
            <a:r>
              <a:rPr lang="ko-KR" altLang="en-US" dirty="0"/>
              <a:t>구간에서 비정상적으로 상승하는 경향을 보인다</a:t>
            </a:r>
            <a:r>
              <a:rPr lang="en-US" altLang="ko-KR" dirty="0"/>
              <a:t>. </a:t>
            </a:r>
            <a:r>
              <a:rPr lang="ko-KR" altLang="en-US" dirty="0"/>
              <a:t>이는 날개 끝에서 발생한 강한 </a:t>
            </a:r>
            <a:r>
              <a:rPr lang="en-US" altLang="ko-KR" dirty="0"/>
              <a:t>3</a:t>
            </a:r>
            <a:r>
              <a:rPr lang="ko-KR" altLang="en-US" dirty="0"/>
              <a:t>차원 유동과 </a:t>
            </a:r>
            <a:r>
              <a:rPr lang="ko-KR" altLang="en-US" dirty="0" err="1"/>
              <a:t>보텍스</a:t>
            </a:r>
            <a:r>
              <a:rPr lang="ko-KR" altLang="en-US" dirty="0"/>
              <a:t> 코어의 고압 유입으로 인해 흡입면의 압력이 증가하기 때문이다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반면 </a:t>
            </a:r>
            <a:r>
              <a:rPr lang="en-US" altLang="ko-KR" dirty="0"/>
              <a:t>SU2(RANS) </a:t>
            </a:r>
            <a:r>
              <a:rPr lang="ko-KR" altLang="en-US" dirty="0"/>
              <a:t>해석은 이러한 </a:t>
            </a:r>
            <a:r>
              <a:rPr lang="en-US" altLang="ko-KR" dirty="0"/>
              <a:t>Tip vortex </a:t>
            </a:r>
            <a:r>
              <a:rPr lang="ko-KR" altLang="en-US" dirty="0"/>
              <a:t>구조를 충분히 재현하지 못해</a:t>
            </a:r>
            <a:r>
              <a:rPr lang="en-US" altLang="ko-KR" dirty="0"/>
              <a:t>, </a:t>
            </a:r>
            <a:r>
              <a:rPr lang="ko-KR" altLang="en-US" dirty="0"/>
              <a:t>상대적으로 매끄럽고 </a:t>
            </a:r>
            <a:r>
              <a:rPr lang="en-US" altLang="ko-KR" dirty="0"/>
              <a:t>2</a:t>
            </a:r>
            <a:r>
              <a:rPr lang="ko-KR" altLang="en-US" dirty="0"/>
              <a:t>차원적 형태의 </a:t>
            </a:r>
            <a:r>
              <a:rPr lang="en-US" altLang="ko-KR" dirty="0"/>
              <a:t>Cp </a:t>
            </a:r>
            <a:r>
              <a:rPr lang="ko-KR" altLang="en-US" dirty="0"/>
              <a:t>분포를 나타낸다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59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AE03-4105-9B62-4C18-710DBB1D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D9E19-98A9-606D-8C0B-86A8BADE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Conclusion</a:t>
            </a:r>
            <a:endParaRPr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B7AA4-A56E-0C95-E438-B846B2388F64}"/>
              </a:ext>
            </a:extLst>
          </p:cNvPr>
          <p:cNvSpPr txBox="1"/>
          <p:nvPr/>
        </p:nvSpPr>
        <p:spPr>
          <a:xfrm>
            <a:off x="1144571" y="1275595"/>
            <a:ext cx="10209229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본 해석에서는 </a:t>
            </a:r>
            <a:r>
              <a:rPr lang="en-US" altLang="ko-KR" dirty="0"/>
              <a:t>ONERA M6 </a:t>
            </a:r>
            <a:r>
              <a:rPr lang="ko-KR" altLang="en-US" dirty="0"/>
              <a:t>날개의 여러 </a:t>
            </a:r>
            <a:r>
              <a:rPr lang="ko-KR" altLang="en-US" dirty="0" err="1"/>
              <a:t>스팬</a:t>
            </a:r>
            <a:r>
              <a:rPr lang="ko-KR" altLang="en-US" dirty="0"/>
              <a:t> 위치에 대해 </a:t>
            </a:r>
            <a:r>
              <a:rPr lang="en-US" altLang="ko-KR" dirty="0"/>
              <a:t>SU2</a:t>
            </a:r>
            <a:r>
              <a:rPr lang="ko-KR" altLang="en-US" dirty="0"/>
              <a:t>로 계산한 </a:t>
            </a:r>
            <a:r>
              <a:rPr lang="en-US" altLang="ko-KR" dirty="0"/>
              <a:t>Cp </a:t>
            </a:r>
            <a:r>
              <a:rPr lang="ko-KR" altLang="en-US" dirty="0"/>
              <a:t>분포를 </a:t>
            </a:r>
            <a:r>
              <a:rPr lang="en-US" altLang="ko-KR" dirty="0"/>
              <a:t>NASA </a:t>
            </a:r>
            <a:r>
              <a:rPr lang="ko-KR" altLang="en-US" dirty="0"/>
              <a:t>실험 데이터와 비교하였다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스팬</a:t>
            </a:r>
            <a:r>
              <a:rPr lang="ko-KR" altLang="en-US" dirty="0"/>
              <a:t> 중</a:t>
            </a:r>
            <a:r>
              <a:rPr lang="en-US" altLang="ko-KR" dirty="0"/>
              <a:t>·</a:t>
            </a:r>
            <a:r>
              <a:rPr lang="ko-KR" altLang="en-US" dirty="0"/>
              <a:t>내부</a:t>
            </a:r>
            <a:r>
              <a:rPr lang="en-US" altLang="ko-KR" dirty="0"/>
              <a:t>(y/b = 0.2~0.65)</a:t>
            </a:r>
            <a:r>
              <a:rPr lang="ko-KR" altLang="en-US" dirty="0"/>
              <a:t>에서는 </a:t>
            </a:r>
            <a:r>
              <a:rPr lang="en-US" altLang="ko-KR" dirty="0"/>
              <a:t>SU2</a:t>
            </a:r>
            <a:r>
              <a:rPr lang="ko-KR" altLang="en-US" dirty="0"/>
              <a:t>가 </a:t>
            </a:r>
            <a:r>
              <a:rPr lang="ko-KR" altLang="en-US" dirty="0" err="1"/>
              <a:t>앞전의</a:t>
            </a:r>
            <a:r>
              <a:rPr lang="ko-KR" altLang="en-US" dirty="0"/>
              <a:t> 강한 </a:t>
            </a:r>
            <a:r>
              <a:rPr lang="en-US" altLang="ko-KR" dirty="0"/>
              <a:t>suction peak</a:t>
            </a:r>
            <a:r>
              <a:rPr lang="ko-KR" altLang="en-US" dirty="0"/>
              <a:t>와 아랫면 분포를 비교적 정확하게 재현하였으나</a:t>
            </a:r>
            <a:r>
              <a:rPr lang="en-US" altLang="ko-KR" dirty="0"/>
              <a:t>, </a:t>
            </a:r>
            <a:r>
              <a:rPr lang="ko-KR" altLang="en-US" dirty="0"/>
              <a:t>윗면 중반부에서 실험 대비 약간 낮은 흡입 성능을 예측하는 경향을 보였다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스팬이</a:t>
            </a:r>
            <a:r>
              <a:rPr lang="ko-KR" altLang="en-US" dirty="0"/>
              <a:t> 증가할수록</a:t>
            </a:r>
            <a:r>
              <a:rPr lang="en-US" altLang="ko-KR" dirty="0"/>
              <a:t>(0.8~0.9) </a:t>
            </a:r>
            <a:r>
              <a:rPr lang="ko-KR" altLang="en-US" dirty="0"/>
              <a:t>실험에서 나타나는 부분 분리와 </a:t>
            </a:r>
            <a:r>
              <a:rPr lang="en-US" altLang="ko-KR" dirty="0"/>
              <a:t>3</a:t>
            </a:r>
            <a:r>
              <a:rPr lang="ko-KR" altLang="en-US" dirty="0"/>
              <a:t>차원 유동 영향이 커지면서 </a:t>
            </a:r>
            <a:r>
              <a:rPr lang="en-US" altLang="ko-KR" dirty="0"/>
              <a:t>SU2</a:t>
            </a:r>
            <a:r>
              <a:rPr lang="ko-KR" altLang="en-US" dirty="0"/>
              <a:t>와의 차이가 증가하는 모습을 확인하였다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특히 </a:t>
            </a:r>
            <a:r>
              <a:rPr lang="en-US" altLang="ko-KR" dirty="0"/>
              <a:t>y/b = 0.96~0.99</a:t>
            </a:r>
            <a:r>
              <a:rPr lang="ko-KR" altLang="en-US" dirty="0"/>
              <a:t>에서는 </a:t>
            </a:r>
            <a:r>
              <a:rPr lang="en-US" altLang="ko-KR" dirty="0"/>
              <a:t>tip vortex</a:t>
            </a:r>
            <a:r>
              <a:rPr lang="ko-KR" altLang="en-US" dirty="0"/>
              <a:t>가 강하게 형성되어 실험 </a:t>
            </a:r>
            <a:r>
              <a:rPr lang="en-US" altLang="ko-KR" dirty="0"/>
              <a:t>Cp</a:t>
            </a:r>
            <a:r>
              <a:rPr lang="ko-KR" altLang="en-US" dirty="0"/>
              <a:t>와 </a:t>
            </a:r>
            <a:r>
              <a:rPr lang="en-US" altLang="ko-KR" dirty="0"/>
              <a:t>su2</a:t>
            </a:r>
            <a:r>
              <a:rPr lang="ko-KR" altLang="en-US" dirty="0"/>
              <a:t>의 </a:t>
            </a:r>
            <a:r>
              <a:rPr lang="en-US" altLang="ko-KR" dirty="0"/>
              <a:t>Cp</a:t>
            </a:r>
            <a:r>
              <a:rPr lang="ko-KR" altLang="en-US" dirty="0"/>
              <a:t>의 큰 차이가 발생하거나 비정상적으로 들뜨는 구간이 존재했으며</a:t>
            </a:r>
            <a:r>
              <a:rPr lang="en-US" altLang="ko-KR" dirty="0"/>
              <a:t>, RANS </a:t>
            </a:r>
            <a:r>
              <a:rPr lang="ko-KR" altLang="en-US" dirty="0"/>
              <a:t>기반 </a:t>
            </a:r>
            <a:r>
              <a:rPr lang="en-US" altLang="ko-KR" dirty="0"/>
              <a:t>SU2 </a:t>
            </a:r>
            <a:r>
              <a:rPr lang="ko-KR" altLang="en-US" dirty="0"/>
              <a:t>계산은 이러한 </a:t>
            </a:r>
            <a:r>
              <a:rPr lang="ko-KR" altLang="en-US" dirty="0" err="1"/>
              <a:t>볼텍스</a:t>
            </a:r>
            <a:r>
              <a:rPr lang="ko-KR" altLang="en-US" dirty="0"/>
              <a:t> 코어 유동을 충분히 포착하지 못해 매끄러운 분포를 보였다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전체적으로 </a:t>
            </a:r>
            <a:r>
              <a:rPr lang="en-US" altLang="ko-KR" dirty="0"/>
              <a:t>SU2</a:t>
            </a:r>
            <a:r>
              <a:rPr lang="ko-KR" altLang="en-US" dirty="0"/>
              <a:t>는 </a:t>
            </a:r>
            <a:r>
              <a:rPr lang="en-US" altLang="ko-KR" dirty="0"/>
              <a:t>3D </a:t>
            </a:r>
            <a:r>
              <a:rPr lang="ko-KR" altLang="en-US" dirty="0"/>
              <a:t>효과가 크지 않은 영역에서는 신뢰성 있는 결과를 보여줬으나</a:t>
            </a:r>
            <a:r>
              <a:rPr lang="en-US" altLang="ko-KR" dirty="0"/>
              <a:t>, </a:t>
            </a:r>
            <a:r>
              <a:rPr lang="ko-KR" altLang="en-US" dirty="0"/>
              <a:t>강한 </a:t>
            </a:r>
            <a:r>
              <a:rPr lang="en-US" altLang="ko-KR" dirty="0"/>
              <a:t>3</a:t>
            </a:r>
            <a:r>
              <a:rPr lang="ko-KR" altLang="en-US" dirty="0"/>
              <a:t>차원 유동과 </a:t>
            </a:r>
            <a:r>
              <a:rPr lang="ko-KR" altLang="en-US" dirty="0" err="1"/>
              <a:t>볼텍스</a:t>
            </a:r>
            <a:r>
              <a:rPr lang="ko-KR" altLang="en-US" dirty="0"/>
              <a:t> 현상에서는 한계를 드러냈다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428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B117-A861-47BA-BDC0-DE45BD0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300CF-7400-A558-04D0-7A28F8B6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873" y="3078948"/>
            <a:ext cx="2838254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감사합니다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222-B36F-76C7-DF18-159147CD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AC0E5-EA3B-BEB3-D6CE-3610405D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EAD7F-5405-1F78-70B7-078722AC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F43B34-92DD-8E78-0CD3-7EC187AF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461</Words>
  <Application>Microsoft Office PowerPoint</Application>
  <PresentationFormat>와이드스크린</PresentationFormat>
  <Paragraphs>34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전산유체해석실습  Report#8</vt:lpstr>
      <vt:lpstr>유동조건</vt:lpstr>
      <vt:lpstr>해석 결과(Section_22)</vt:lpstr>
      <vt:lpstr>해석결과(Section_44)</vt:lpstr>
      <vt:lpstr>해석결과(Section_65)</vt:lpstr>
      <vt:lpstr>해석결과(Section_8)</vt:lpstr>
      <vt:lpstr>해석결과(Section_9)</vt:lpstr>
      <vt:lpstr>해석결과(Section_96)</vt:lpstr>
      <vt:lpstr>해석결과(Section_99)</vt:lpstr>
      <vt:lpstr>Conclusion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영욱 서</dc:creator>
  <cp:lastModifiedBy>영욱 서</cp:lastModifiedBy>
  <cp:revision>16</cp:revision>
  <dcterms:created xsi:type="dcterms:W3CDTF">2025-09-12T05:46:35Z</dcterms:created>
  <dcterms:modified xsi:type="dcterms:W3CDTF">2025-11-15T08:34:28Z</dcterms:modified>
</cp:coreProperties>
</file>