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9" r:id="rId4"/>
    <p:sldId id="263" r:id="rId5"/>
    <p:sldId id="282" r:id="rId6"/>
    <p:sldId id="280" r:id="rId7"/>
    <p:sldId id="281" r:id="rId8"/>
    <p:sldId id="283" r:id="rId9"/>
    <p:sldId id="268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1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13B88-570C-4D54-BDA2-E171BAC31E24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815B4-31D1-4D38-9D0E-4BB26E41F9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7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815B4-31D1-4D38-9D0E-4BB26E41F91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09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</a:t>
            </a:r>
            <a:br>
              <a:rPr lang="en-US" altLang="ko-KR" sz="4800" dirty="0"/>
            </a:br>
            <a:r>
              <a:rPr lang="en-US" altLang="ko-KR" sz="4800" dirty="0"/>
              <a:t>Report#7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B95E-4068-98EF-B9DF-5112B003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700"/>
            <a:ext cx="10515600" cy="70010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Report#7_1 (plunging) </a:t>
            </a:r>
            <a:r>
              <a:rPr lang="ko-KR" altLang="en-US" sz="3600" dirty="0"/>
              <a:t>초기조건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B5673C-27D3-D023-C89F-2D8741753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430"/>
                <a:ext cx="10671928" cy="473269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/>
                  <a:t>첫번째 해석으로 </a:t>
                </a:r>
                <a:r>
                  <a:rPr lang="en-US" altLang="ko-KR" sz="2000" dirty="0"/>
                  <a:t>naca0012</a:t>
                </a:r>
                <a:r>
                  <a:rPr lang="ko-KR" altLang="en-US" sz="2000" dirty="0"/>
                  <a:t>의 </a:t>
                </a:r>
                <a:r>
                  <a:rPr lang="en-US" altLang="ko-KR" sz="2000" dirty="0"/>
                  <a:t>plunging</a:t>
                </a:r>
                <a:r>
                  <a:rPr lang="ko-KR" altLang="en-US" sz="2000" dirty="0"/>
                  <a:t>운동을 수행하였다</a:t>
                </a:r>
                <a:r>
                  <a:rPr lang="en-US" altLang="ko-KR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/>
                  <a:t>쿼터 코드</a:t>
                </a:r>
                <a:r>
                  <a:rPr lang="en-US" altLang="ko-KR" sz="2000" dirty="0"/>
                  <a:t>(0.25c)</a:t>
                </a:r>
                <a:r>
                  <a:rPr lang="ko-KR" altLang="en-US" sz="2000" dirty="0"/>
                  <a:t>를 기준으로</a:t>
                </a:r>
                <a:r>
                  <a:rPr lang="en-US" altLang="ko-KR" sz="2000" dirty="0"/>
                  <a:t>, y(t)=</a:t>
                </a:r>
                <a:r>
                  <a:rPr lang="en-US" altLang="ko-KR" sz="2000" dirty="0" err="1"/>
                  <a:t>hsin</a:t>
                </a:r>
                <a:r>
                  <a:rPr lang="en-US" altLang="ko-KR" sz="2000" dirty="0"/>
                  <a:t>(</a:t>
                </a:r>
                <a:r>
                  <a:rPr lang="el-GR" altLang="ko-KR" sz="2000" dirty="0"/>
                  <a:t>ω</a:t>
                </a:r>
                <a:r>
                  <a:rPr lang="en-US" altLang="ko-KR" sz="2000" dirty="0"/>
                  <a:t>t) </a:t>
                </a:r>
                <a:r>
                  <a:rPr lang="ko-KR" altLang="en-US" sz="2000" dirty="0" err="1"/>
                  <a:t>플런징</a:t>
                </a:r>
                <a:r>
                  <a:rPr lang="ko-KR" altLang="en-US" sz="2000" dirty="0"/>
                  <a:t> 운동</a:t>
                </a:r>
                <a:r>
                  <a:rPr lang="en-US" altLang="ko-KR" sz="2000" dirty="0"/>
                  <a:t>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2000"/>
                      <m:t>=1.01,</m:t>
                    </m:r>
                    <m:r>
                      <m:rPr>
                        <m:nor/>
                      </m:rPr>
                      <a:rPr lang="ko-KR" altLang="en-US" sz="2000" i="1"/>
                      <m:t> </m:t>
                    </m:r>
                    <m:r>
                      <a:rPr lang="ko-KR" altLang="en-US" sz="2000" i="1"/>
                      <m:t>𝜔</m:t>
                    </m:r>
                    <m:r>
                      <a:rPr lang="en-US" altLang="ko-KR" sz="2000"/>
                      <m:t>=106.69842</m:t>
                    </m:r>
                    <m:r>
                      <m:rPr>
                        <m:nor/>
                      </m:rPr>
                      <a:rPr lang="ko-KR" altLang="en-US" sz="2000" i="1"/>
                      <m:t> </m:t>
                    </m:r>
                    <m:r>
                      <m:rPr>
                        <m:nor/>
                      </m:rPr>
                      <a:rPr lang="en-US" altLang="ko-KR" sz="2000" i="1"/>
                      <m:t>rad</m:t>
                    </m:r>
                    <m:r>
                      <m:rPr>
                        <m:nor/>
                      </m:rPr>
                      <a:rPr lang="en-US" altLang="ko-KR" sz="2000" i="1"/>
                      <m:t>/</m:t>
                    </m:r>
                    <m:r>
                      <m:rPr>
                        <m:nor/>
                      </m:rPr>
                      <a:rPr lang="en-US" altLang="ko-KR" sz="2000" i="1"/>
                      <m:t>s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을 적용하였다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시간간격은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/>
                      <m:t>Δ</m:t>
                    </m:r>
                    <m:r>
                      <a:rPr lang="ko-KR" altLang="en-US" sz="2000" i="1"/>
                      <m:t>𝑡</m:t>
                    </m:r>
                    <m:r>
                      <a:rPr lang="en-US" altLang="ko-KR" sz="2000"/>
                      <m:t>=0.0023555</m:t>
                    </m:r>
                  </m:oMath>
                </a14:m>
                <a:r>
                  <a:rPr lang="en-US" altLang="ko-KR" sz="2000" dirty="0"/>
                  <a:t>s</a:t>
                </a:r>
                <a:r>
                  <a:rPr lang="ko-KR" altLang="en-US" sz="2000" dirty="0"/>
                  <a:t>로 주기당 </a:t>
                </a:r>
                <a:r>
                  <a:rPr lang="en-US" altLang="ko-KR" sz="2000" dirty="0"/>
                  <a:t>25</a:t>
                </a:r>
                <a:r>
                  <a:rPr lang="ko-KR" altLang="en-US" sz="2000" dirty="0"/>
                  <a:t>스텝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총 </a:t>
                </a:r>
                <a:r>
                  <a:rPr lang="en-US" altLang="ko-KR" sz="2000" dirty="0"/>
                  <a:t>10</a:t>
                </a:r>
                <a:r>
                  <a:rPr lang="ko-KR" altLang="en-US" sz="2000" dirty="0"/>
                  <a:t>주기</a:t>
                </a:r>
                <a:r>
                  <a:rPr lang="en-US" altLang="ko-KR" sz="2000" dirty="0"/>
                  <a:t>(250</a:t>
                </a:r>
                <a:r>
                  <a:rPr lang="ko-KR" altLang="en-US" sz="2000" dirty="0"/>
                  <a:t>스텝</a:t>
                </a:r>
                <a:r>
                  <a:rPr lang="en-US" altLang="ko-KR" sz="2000" dirty="0"/>
                  <a:t>) </a:t>
                </a:r>
                <a:r>
                  <a:rPr lang="ko-KR" altLang="en-US" sz="2000" dirty="0"/>
                  <a:t>해석을 수행하였다</a:t>
                </a:r>
                <a:r>
                  <a:rPr lang="en-US" altLang="ko-KR" sz="2000" dirty="0"/>
                  <a:t>. </a:t>
                </a:r>
                <a:r>
                  <a:rPr lang="ko-KR" altLang="en-US" sz="2000" dirty="0" err="1"/>
                  <a:t>자유류</a:t>
                </a:r>
                <a:r>
                  <a:rPr lang="ko-KR" altLang="en-US" sz="2000" dirty="0"/>
                  <a:t> 조건은 </a:t>
                </a:r>
                <a14:m>
                  <m:oMath xmlns:m="http://schemas.openxmlformats.org/officeDocument/2006/math">
                    <m:r>
                      <a:rPr lang="ko-KR" altLang="en-US" sz="2000" i="1"/>
                      <m:t>𝑀</m:t>
                    </m:r>
                    <m:r>
                      <a:rPr lang="en-US" altLang="ko-KR" sz="2000"/>
                      <m:t>=0.3,</m:t>
                    </m:r>
                    <m:r>
                      <a:rPr lang="ko-KR" altLang="en-US" sz="2000" i="1"/>
                      <m:t>𝛼</m:t>
                    </m:r>
                    <m:r>
                      <a:rPr lang="en-US" altLang="ko-KR" sz="2000"/>
                      <m:t>=</m:t>
                    </m:r>
                    <m:sSup>
                      <m:sSupPr>
                        <m:ctrlPr>
                          <a:rPr lang="ko-KR" altLang="en-US" sz="2000" i="1"/>
                        </m:ctrlPr>
                      </m:sSupPr>
                      <m:e>
                        <m:r>
                          <a:rPr lang="en-US" altLang="ko-KR" sz="2000"/>
                          <m:t>0</m:t>
                        </m:r>
                      </m:e>
                      <m:sup>
                        <m:r>
                          <a:rPr lang="ko-KR" altLang="en-US" sz="2000"/>
                          <m:t>∘</m:t>
                        </m:r>
                      </m:sup>
                    </m:sSup>
                    <m:r>
                      <a:rPr lang="en-US" altLang="ko-KR" sz="2000"/>
                      <m:t>,</m:t>
                    </m:r>
                    <m:r>
                      <a:rPr lang="ko-KR" altLang="en-US" sz="2000" i="1"/>
                      <m:t>𝑅𝑒</m:t>
                    </m:r>
                    <m:r>
                      <a:rPr lang="en-US" altLang="ko-KR" sz="2000"/>
                      <m:t>=1000</m:t>
                    </m:r>
                  </m:oMath>
                </a14:m>
                <a:r>
                  <a:rPr lang="ko-KR" altLang="en-US" sz="2000" dirty="0"/>
                  <a:t>이다</a:t>
                </a:r>
                <a:r>
                  <a:rPr lang="en-US" altLang="ko-KR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/>
                  <a:t>Inner Iter</a:t>
                </a:r>
                <a:r>
                  <a:rPr lang="ko-KR" altLang="en-US" sz="2000" dirty="0"/>
                  <a:t>은</a:t>
                </a:r>
                <a:r>
                  <a:rPr lang="en-US" altLang="ko-KR" sz="2000" dirty="0"/>
                  <a:t> 500</a:t>
                </a:r>
                <a:r>
                  <a:rPr lang="ko-KR" altLang="en-US" sz="2000" dirty="0"/>
                  <a:t>으로 설정하여 수렴시간을 충분히 늘려 안정된 결과를 얻고자 했다</a:t>
                </a:r>
                <a:r>
                  <a:rPr lang="en-US" altLang="ko-KR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/>
                  <a:t>CFL number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=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1</a:t>
                </a:r>
                <a:r>
                  <a:rPr lang="ko-KR" altLang="en-US" sz="2000" dirty="0"/>
                  <a:t>로 설정하였고</a:t>
                </a:r>
                <a:r>
                  <a:rPr lang="en-US" altLang="ko-KR" sz="2000" dirty="0"/>
                  <a:t>, CFL_ADAPT = NO</a:t>
                </a:r>
                <a:r>
                  <a:rPr lang="ko-KR" altLang="en-US" sz="2000" dirty="0"/>
                  <a:t>로 하였다</a:t>
                </a:r>
                <a:r>
                  <a:rPr lang="en-US" altLang="ko-KR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000" dirty="0"/>
              </a:p>
              <a:p>
                <a:pPr>
                  <a:lnSpc>
                    <a:spcPct val="150000"/>
                  </a:lnSpc>
                </a:pPr>
                <a:endParaRPr lang="en-US" altLang="ko-KR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B5673C-27D3-D023-C89F-2D8741753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430"/>
                <a:ext cx="10671928" cy="4732690"/>
              </a:xfrm>
              <a:blipFill>
                <a:blip r:embed="rId2"/>
                <a:stretch>
                  <a:fillRect l="-5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4B789E5-EABA-18A7-386F-E8E3460CD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5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DBD9-DF2C-07F4-55DA-C8D1F652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93AAD9-93CD-7491-3721-80189A97C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A12FBD8-4701-F0FE-1016-F4B7AA367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039" y="1293830"/>
            <a:ext cx="6639922" cy="5430273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A0E4F33-4D75-9D3F-AB3B-CFAD22829E79}"/>
              </a:ext>
            </a:extLst>
          </p:cNvPr>
          <p:cNvSpPr txBox="1">
            <a:spLocks/>
          </p:cNvSpPr>
          <p:nvPr/>
        </p:nvSpPr>
        <p:spPr>
          <a:xfrm>
            <a:off x="838200" y="355700"/>
            <a:ext cx="10515600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Report#7_1 (plunging) </a:t>
            </a:r>
            <a:r>
              <a:rPr lang="ko-KR" altLang="en-US" sz="3600"/>
              <a:t>초기조건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688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59A9-463A-FBD5-E68E-43A6788E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78D8A-D7AF-6DB9-05FE-97BE573C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(plunging)</a:t>
            </a:r>
            <a:endParaRPr lang="ko-KR" altLang="en-US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AA3D02C-F1DA-DA29-D204-9E55DC77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76FBB-CAAA-1D8C-E32A-4091D1A9455C}"/>
              </a:ext>
            </a:extLst>
          </p:cNvPr>
          <p:cNvSpPr txBox="1"/>
          <p:nvPr/>
        </p:nvSpPr>
        <p:spPr>
          <a:xfrm>
            <a:off x="942680" y="1263507"/>
            <a:ext cx="1041112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 그림은 </a:t>
            </a:r>
            <a:r>
              <a:rPr lang="ko-KR" altLang="en-US" dirty="0" err="1"/>
              <a:t>플런징</a:t>
            </a:r>
            <a:r>
              <a:rPr lang="ko-KR" altLang="en-US" dirty="0"/>
              <a:t> 운동의 한순간을 </a:t>
            </a:r>
            <a:r>
              <a:rPr lang="ko-KR" altLang="en-US" dirty="0" err="1"/>
              <a:t>캡쳐한</a:t>
            </a:r>
            <a:r>
              <a:rPr lang="ko-KR" altLang="en-US" dirty="0"/>
              <a:t> 것으로 영상은 </a:t>
            </a:r>
            <a:r>
              <a:rPr lang="en-US" altLang="ko-KR" dirty="0" err="1"/>
              <a:t>github</a:t>
            </a:r>
            <a:r>
              <a:rPr lang="ko-KR" altLang="en-US" dirty="0"/>
              <a:t>에 업로드하였다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영상을 보면 </a:t>
            </a:r>
            <a:r>
              <a:rPr lang="ko-KR" altLang="en-US" dirty="0" err="1"/>
              <a:t>플런징</a:t>
            </a:r>
            <a:r>
              <a:rPr lang="ko-KR" altLang="en-US" dirty="0"/>
              <a:t> 운동에 따라 </a:t>
            </a:r>
            <a:r>
              <a:rPr lang="ko-KR" altLang="en-US" dirty="0" err="1"/>
              <a:t>에어포일의</a:t>
            </a:r>
            <a:r>
              <a:rPr lang="ko-KR" altLang="en-US" dirty="0"/>
              <a:t> 상하 진동 시 주기적인 압력 변화가 발생하였다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에어포일이</a:t>
            </a:r>
            <a:r>
              <a:rPr lang="ko-KR" altLang="en-US" dirty="0"/>
              <a:t> 상승할 때 </a:t>
            </a:r>
            <a:r>
              <a:rPr lang="en-US" altLang="ko-KR" dirty="0"/>
              <a:t>: </a:t>
            </a:r>
            <a:r>
              <a:rPr lang="ko-KR" altLang="en-US" dirty="0"/>
              <a:t>하부면에서 </a:t>
            </a:r>
            <a:r>
              <a:rPr lang="ko-KR" altLang="en-US" dirty="0" err="1"/>
              <a:t>정체압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상부면에서 압력 저하 </a:t>
            </a:r>
            <a:r>
              <a:rPr lang="en-US" altLang="ko-KR" dirty="0"/>
              <a:t>-&gt; </a:t>
            </a:r>
            <a:r>
              <a:rPr lang="ko-KR" altLang="en-US" dirty="0"/>
              <a:t>순간적으로 양력증가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하강할 때  </a:t>
            </a:r>
            <a:r>
              <a:rPr lang="en-US" altLang="ko-KR" dirty="0"/>
              <a:t>: </a:t>
            </a:r>
            <a:r>
              <a:rPr lang="ko-KR" altLang="en-US" dirty="0"/>
              <a:t>상부면의 압력이 회복되고 하부면에서 와류가 분리되며 양력 감소 발생</a:t>
            </a:r>
            <a:endParaRPr lang="en-US" altLang="ko-KR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818871-B50D-7EA4-4CC0-B4990B613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E4CD733-36AC-39D5-3F47-9887A984E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70" y="3162571"/>
            <a:ext cx="7336460" cy="357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2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84D2-3798-96DB-B350-5604ED5B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CDADA-1E57-1E89-461A-96E5EE4A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700"/>
            <a:ext cx="10515600" cy="70010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Report#7_2 (</a:t>
            </a:r>
            <a:r>
              <a:rPr lang="en-US" altLang="ko-KR" sz="3600" dirty="0" err="1"/>
              <a:t>plunging+pitching</a:t>
            </a:r>
            <a:r>
              <a:rPr lang="en-US" altLang="ko-KR" sz="3600" dirty="0"/>
              <a:t>) </a:t>
            </a:r>
            <a:r>
              <a:rPr lang="ko-KR" altLang="en-US" sz="3600" dirty="0"/>
              <a:t>초기조건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2FF309-14EA-6A6C-B13D-6ABD0F3B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430"/>
            <a:ext cx="10671928" cy="47326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두번째 해석으로는 </a:t>
            </a:r>
            <a:r>
              <a:rPr lang="en-US" altLang="ko-KR" sz="2000" dirty="0"/>
              <a:t>naca0012 airfoil</a:t>
            </a:r>
            <a:r>
              <a:rPr lang="ko-KR" altLang="en-US" sz="2000" dirty="0"/>
              <a:t>로 지난시간 수행했던 </a:t>
            </a:r>
            <a:r>
              <a:rPr lang="en-US" altLang="ko-KR" sz="2000" dirty="0"/>
              <a:t>pitching</a:t>
            </a:r>
            <a:r>
              <a:rPr lang="ko-KR" altLang="en-US" sz="2000" dirty="0"/>
              <a:t>운동에 </a:t>
            </a:r>
            <a:r>
              <a:rPr lang="en-US" altLang="ko-KR" sz="2000" dirty="0"/>
              <a:t>plunging</a:t>
            </a:r>
            <a:r>
              <a:rPr lang="ko-KR" altLang="en-US" sz="2000" dirty="0"/>
              <a:t>운동을 결합하여 해석을 진행하였다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지난 시간의 </a:t>
            </a:r>
            <a:r>
              <a:rPr lang="en-US" altLang="ko-KR" sz="2000" dirty="0"/>
              <a:t>pitching</a:t>
            </a:r>
            <a:r>
              <a:rPr lang="ko-KR" altLang="en-US" sz="2000" dirty="0"/>
              <a:t>운동의 </a:t>
            </a:r>
            <a:r>
              <a:rPr lang="en-US" altLang="ko-KR" sz="2000" dirty="0" err="1"/>
              <a:t>cfg</a:t>
            </a:r>
            <a:r>
              <a:rPr lang="ko-KR" altLang="en-US" sz="2000" dirty="0"/>
              <a:t>파일의 초기조건은 모두 동일하지만 </a:t>
            </a:r>
            <a:r>
              <a:rPr lang="en-US" altLang="ko-KR" sz="2000" dirty="0" err="1"/>
              <a:t>plungin</a:t>
            </a:r>
            <a:r>
              <a:rPr lang="ko-KR" altLang="en-US" sz="2000" dirty="0"/>
              <a:t>운동의 </a:t>
            </a:r>
            <a:r>
              <a:rPr lang="en-US" altLang="ko-KR" sz="2000" dirty="0" err="1"/>
              <a:t>cfg</a:t>
            </a:r>
            <a:r>
              <a:rPr lang="ko-KR" altLang="en-US" sz="2000" dirty="0"/>
              <a:t>파일에서 </a:t>
            </a:r>
            <a:r>
              <a:rPr lang="nn-NO" altLang="ko-KR" sz="2000" dirty="0"/>
              <a:t>PLUNGING_OMEGA= 0.0 106.69842 0.0</a:t>
            </a:r>
            <a:r>
              <a:rPr lang="ko-KR" altLang="en-US" sz="2000" dirty="0"/>
              <a:t>과 </a:t>
            </a:r>
            <a:r>
              <a:rPr lang="en-US" altLang="ko-KR" sz="2000" dirty="0"/>
              <a:t>PLUNGING_AMPL= 0.0 1.01 0.0</a:t>
            </a:r>
            <a:r>
              <a:rPr lang="ko-KR" altLang="en-US" sz="2000" dirty="0"/>
              <a:t>만 </a:t>
            </a:r>
            <a:r>
              <a:rPr lang="en-US" altLang="ko-KR" sz="2000" dirty="0"/>
              <a:t>pitching</a:t>
            </a:r>
            <a:r>
              <a:rPr lang="ko-KR" altLang="en-US" sz="2000" dirty="0"/>
              <a:t>운동의 </a:t>
            </a:r>
            <a:r>
              <a:rPr lang="en-US" altLang="ko-KR" sz="2000" dirty="0" err="1"/>
              <a:t>cfg</a:t>
            </a:r>
            <a:r>
              <a:rPr lang="ko-KR" altLang="en-US" sz="2000" dirty="0"/>
              <a:t>파일에 추가하였다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그리고 </a:t>
            </a:r>
            <a:r>
              <a:rPr lang="en-US" altLang="ko-KR" sz="2000" dirty="0"/>
              <a:t>Inner Iter = 100</a:t>
            </a:r>
            <a:r>
              <a:rPr lang="ko-KR" altLang="en-US" sz="2000" dirty="0"/>
              <a:t>으로 하여 수렴의 안정성을 높였으며 추가로 격자 품질이 양호하다고 판단하여 수렴 가속을 위해 </a:t>
            </a:r>
            <a:r>
              <a:rPr lang="en-US" altLang="ko-KR" sz="2000" dirty="0"/>
              <a:t>CFL_ADAPT = YES</a:t>
            </a:r>
            <a:r>
              <a:rPr lang="ko-KR" altLang="en-US" sz="2000" dirty="0"/>
              <a:t>를 활성화하였다</a:t>
            </a:r>
            <a:r>
              <a:rPr lang="en-US" altLang="ko-KR" sz="20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3E0D4D-16F4-AD68-1135-89502A408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96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967B-C945-8535-B5A7-05ECBB562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C4E6C6-DCD8-5823-7B48-219A19400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07E2E95-FA42-1EF0-83DA-98B5E10BDE8D}"/>
              </a:ext>
            </a:extLst>
          </p:cNvPr>
          <p:cNvSpPr txBox="1">
            <a:spLocks/>
          </p:cNvSpPr>
          <p:nvPr/>
        </p:nvSpPr>
        <p:spPr>
          <a:xfrm>
            <a:off x="838200" y="355700"/>
            <a:ext cx="10515600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/>
              <a:t>Report#7_2 (</a:t>
            </a:r>
            <a:r>
              <a:rPr lang="en-US" altLang="ko-KR" sz="3600" dirty="0" err="1"/>
              <a:t>plunging+pitching</a:t>
            </a:r>
            <a:r>
              <a:rPr lang="en-US" altLang="ko-KR" sz="3600" dirty="0"/>
              <a:t>) </a:t>
            </a:r>
            <a:r>
              <a:rPr lang="ko-KR" altLang="en-US" sz="3600" dirty="0"/>
              <a:t>초기조건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0EA0582-9D9A-B866-4441-CAEDCC88A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5904" y="1253331"/>
            <a:ext cx="5772232" cy="552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0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468A-90F6-12C1-8653-3F584C48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5F05E-99E6-2D0C-C2D3-796B813B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(plunging)</a:t>
            </a:r>
            <a:endParaRPr lang="ko-KR" altLang="en-US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94A337A-98FF-B1DE-C5A4-93270C5CE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052F4-4843-2923-390F-7256E4A58E71}"/>
              </a:ext>
            </a:extLst>
          </p:cNvPr>
          <p:cNvSpPr txBox="1"/>
          <p:nvPr/>
        </p:nvSpPr>
        <p:spPr>
          <a:xfrm>
            <a:off x="942680" y="1263507"/>
            <a:ext cx="1051560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 그림은 </a:t>
            </a:r>
            <a:r>
              <a:rPr lang="ko-KR" altLang="en-US" dirty="0" err="1"/>
              <a:t>플런징</a:t>
            </a:r>
            <a:r>
              <a:rPr lang="en-US" altLang="ko-KR" dirty="0"/>
              <a:t>+</a:t>
            </a:r>
            <a:r>
              <a:rPr lang="ko-KR" altLang="en-US" dirty="0"/>
              <a:t>피칭 운동의 한순간을 </a:t>
            </a:r>
            <a:r>
              <a:rPr lang="ko-KR" altLang="en-US" dirty="0" err="1"/>
              <a:t>캡쳐한</a:t>
            </a:r>
            <a:r>
              <a:rPr lang="ko-KR" altLang="en-US" dirty="0"/>
              <a:t> 것으로 영상은 </a:t>
            </a:r>
            <a:r>
              <a:rPr lang="en-US" altLang="ko-KR" dirty="0" err="1"/>
              <a:t>github</a:t>
            </a:r>
            <a:r>
              <a:rPr lang="ko-KR" altLang="en-US" dirty="0"/>
              <a:t>에 업로드하였다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상승 구간에서는 하부면 압력이 증가하고 상부면 압력이 감소하여 양력</a:t>
            </a:r>
            <a:r>
              <a:rPr lang="en-US" altLang="ko-KR" dirty="0"/>
              <a:t>(CL)</a:t>
            </a:r>
            <a:r>
              <a:rPr lang="ko-KR" altLang="en-US" dirty="0"/>
              <a:t>이 최대</a:t>
            </a:r>
            <a:r>
              <a:rPr lang="en-US" altLang="ko-KR" dirty="0"/>
              <a:t>, </a:t>
            </a:r>
            <a:r>
              <a:rPr lang="ko-KR" altLang="en-US" dirty="0"/>
              <a:t>하강 구간에서는 반대로 양력이 감소하며 후류에 주기적 와류 방출이 관찰되었다</a:t>
            </a:r>
            <a:r>
              <a:rPr lang="en-US" altLang="ko-KR" dirty="0"/>
              <a:t>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DB9FA7-CF01-E0D1-E9D0-F0A7A47EC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B7E3E8-BE4B-4468-97B0-97F0E9CE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52" y="3040134"/>
            <a:ext cx="7584498" cy="36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9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7238-4D98-15D2-03DD-05DF25C5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A6269-F316-32E7-A37F-B2DA5E04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700"/>
            <a:ext cx="10515600" cy="70010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Report#7_3 (</a:t>
            </a:r>
            <a:r>
              <a:rPr lang="en-US" altLang="ko-KR" sz="3600" dirty="0" err="1"/>
              <a:t>caradona_tung</a:t>
            </a:r>
            <a:r>
              <a:rPr lang="en-US" altLang="ko-KR" sz="3600" dirty="0"/>
              <a:t>) </a:t>
            </a:r>
            <a:r>
              <a:rPr lang="ko-KR" altLang="en-US" sz="3600" dirty="0"/>
              <a:t>초기조건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FE32B6-7E6A-873C-9EDD-13CA20AD2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430"/>
            <a:ext cx="10671928" cy="47326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/>
              <a:t>세번째 해석으로는 </a:t>
            </a:r>
            <a:r>
              <a:rPr lang="en-US" altLang="ko-KR" sz="1800" dirty="0"/>
              <a:t>Caradonna &amp; Tung Rotor Hover </a:t>
            </a:r>
            <a:r>
              <a:rPr lang="ko-KR" altLang="en-US" sz="1800" dirty="0"/>
              <a:t>해석으로 </a:t>
            </a:r>
            <a:r>
              <a:rPr lang="ko-KR" altLang="en-US" sz="1800" dirty="0" err="1"/>
              <a:t>로터는</a:t>
            </a:r>
            <a:r>
              <a:rPr lang="ko-KR" altLang="en-US" sz="1800" dirty="0"/>
              <a:t> 정지한 공기 중에서 회전하며</a:t>
            </a:r>
            <a:r>
              <a:rPr lang="en-US" altLang="ko-KR" sz="1800" dirty="0"/>
              <a:t>, </a:t>
            </a:r>
            <a:r>
              <a:rPr lang="ko-KR" altLang="en-US" sz="1800" dirty="0"/>
              <a:t>격자가 </a:t>
            </a:r>
            <a:r>
              <a:rPr lang="ko-KR" altLang="en-US" sz="1800" dirty="0" err="1"/>
              <a:t>로터와</a:t>
            </a:r>
            <a:r>
              <a:rPr lang="ko-KR" altLang="en-US" sz="1800" dirty="0"/>
              <a:t> 함께 회전하는 기준계로 설정되었고</a:t>
            </a:r>
            <a:r>
              <a:rPr lang="en-US" altLang="ko-KR" sz="1800" dirty="0"/>
              <a:t> </a:t>
            </a:r>
            <a:r>
              <a:rPr lang="ko-KR" altLang="en-US" sz="1800" dirty="0"/>
              <a:t>해석은 </a:t>
            </a:r>
            <a:r>
              <a:rPr lang="ko-KR" altLang="en-US" sz="1800" dirty="0" err="1"/>
              <a:t>압축성</a:t>
            </a:r>
            <a:r>
              <a:rPr lang="ko-KR" altLang="en-US" sz="1800" dirty="0"/>
              <a:t> 효과를 포함한 </a:t>
            </a:r>
            <a:r>
              <a:rPr lang="en-US" altLang="ko-KR" sz="1800" dirty="0"/>
              <a:t>Euler </a:t>
            </a:r>
            <a:r>
              <a:rPr lang="ko-KR" altLang="en-US" sz="1800" dirty="0"/>
              <a:t>해석으로 수행하였다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공기가 정지한 상태에서 </a:t>
            </a:r>
            <a:r>
              <a:rPr lang="ko-KR" altLang="en-US" sz="1800" dirty="0" err="1"/>
              <a:t>로터만</a:t>
            </a:r>
            <a:r>
              <a:rPr lang="ko-KR" altLang="en-US" sz="1800" dirty="0"/>
              <a:t> 회전하는 </a:t>
            </a:r>
            <a:r>
              <a:rPr lang="en-US" altLang="ko-KR" sz="1800" dirty="0"/>
              <a:t>hover </a:t>
            </a:r>
            <a:r>
              <a:rPr lang="ko-KR" altLang="en-US" sz="1800" dirty="0"/>
              <a:t>조건으로 설정하였다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외부 유동 유입이 없는 제자리 비행이기 때문에 </a:t>
            </a:r>
            <a:r>
              <a:rPr lang="en-US" altLang="ko-KR" sz="1800" dirty="0"/>
              <a:t>MACH_NUMBER=0.0, AOA=0.0</a:t>
            </a:r>
            <a:r>
              <a:rPr lang="ko-KR" altLang="en-US" sz="1800" dirty="0"/>
              <a:t>으로 지정하였다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800" dirty="0"/>
              <a:t>JST </a:t>
            </a:r>
            <a:r>
              <a:rPr lang="ko-KR" altLang="en-US" sz="1800" dirty="0" err="1"/>
              <a:t>스킴과</a:t>
            </a:r>
            <a:r>
              <a:rPr lang="ko-KR" altLang="en-US" sz="1800" dirty="0"/>
              <a:t> 다중격자</a:t>
            </a:r>
            <a:r>
              <a:rPr lang="en-US" altLang="ko-KR" sz="1800" dirty="0"/>
              <a:t>(W-cycle) </a:t>
            </a:r>
            <a:r>
              <a:rPr lang="ko-KR" altLang="en-US" sz="1800" dirty="0"/>
              <a:t>기법을 조합하여 안정적이면서 빠른 수렴을 유도하였다</a:t>
            </a:r>
            <a:r>
              <a:rPr lang="en-US" altLang="ko-KR" sz="1800" dirty="0"/>
              <a:t>. CFL_NUMBER=1000, CFL_ADAPT=NO</a:t>
            </a:r>
            <a:r>
              <a:rPr lang="ko-KR" altLang="en-US" sz="1800" dirty="0"/>
              <a:t>로 고정하여 발산을 방지하였다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dirty="0"/>
              <a:t>격자를 </a:t>
            </a:r>
            <a:r>
              <a:rPr lang="en-US" altLang="ko-KR" sz="1800" dirty="0"/>
              <a:t>ROTATING_FRAME</a:t>
            </a:r>
            <a:r>
              <a:rPr lang="ko-KR" altLang="en-US" sz="1800" dirty="0"/>
              <a:t>으로 설정하여 공기를 돌리며 </a:t>
            </a:r>
            <a:r>
              <a:rPr lang="ko-KR" altLang="en-US" sz="1800" dirty="0" err="1"/>
              <a:t>로터의</a:t>
            </a:r>
            <a:r>
              <a:rPr lang="ko-KR" altLang="en-US" sz="1800" dirty="0"/>
              <a:t> 실제 회전 운동을 모사하였다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블레이드는 원점</a:t>
            </a:r>
            <a:r>
              <a:rPr lang="en-US" altLang="ko-KR" sz="1800" dirty="0"/>
              <a:t>(0,0,0)</a:t>
            </a:r>
            <a:r>
              <a:rPr lang="ko-KR" altLang="en-US" sz="1800" dirty="0"/>
              <a:t>을 중심으로 </a:t>
            </a:r>
            <a:r>
              <a:rPr lang="en-US" altLang="ko-KR" sz="1800" dirty="0"/>
              <a:t>x</a:t>
            </a:r>
            <a:r>
              <a:rPr lang="ko-KR" altLang="en-US" sz="1800" dirty="0"/>
              <a:t>축 방향으로 초당 </a:t>
            </a:r>
            <a:r>
              <a:rPr lang="en-US" altLang="ko-KR" sz="1800" dirty="0"/>
              <a:t>261.799 rad/s(</a:t>
            </a:r>
            <a:r>
              <a:rPr lang="ko-KR" altLang="en-US" sz="1800" dirty="0"/>
              <a:t>약 </a:t>
            </a:r>
            <a:r>
              <a:rPr lang="en-US" altLang="ko-KR" sz="1800" dirty="0"/>
              <a:t>2500 RPM)</a:t>
            </a:r>
            <a:r>
              <a:rPr lang="ko-KR" altLang="en-US" sz="1800" dirty="0"/>
              <a:t>로 회전하며</a:t>
            </a:r>
            <a:r>
              <a:rPr lang="en-US" altLang="ko-KR" sz="1800" dirty="0"/>
              <a:t>, </a:t>
            </a:r>
            <a:r>
              <a:rPr lang="ko-KR" altLang="en-US" sz="1800" dirty="0"/>
              <a:t>끝단 마하수는 약 </a:t>
            </a:r>
            <a:r>
              <a:rPr lang="en-US" altLang="ko-KR" sz="1800" dirty="0"/>
              <a:t>0.877</a:t>
            </a:r>
            <a:r>
              <a:rPr lang="ko-KR" altLang="en-US" sz="1800" dirty="0"/>
              <a:t>로 설정하였다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38508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5122-09AF-00F3-5612-A91CCA53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EA754-CC4F-2DB2-B9BB-7C761CC9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</a:t>
            </a:r>
            <a:r>
              <a:rPr lang="ko-KR" altLang="en-US" sz="3600" dirty="0"/>
              <a:t>격자 확인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D5F0C39-2EA1-EC6F-3EE9-7D9AEF67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4BEB0-0349-7FAC-A014-7F3787CBA2FE}"/>
              </a:ext>
            </a:extLst>
          </p:cNvPr>
          <p:cNvSpPr txBox="1"/>
          <p:nvPr/>
        </p:nvSpPr>
        <p:spPr>
          <a:xfrm>
            <a:off x="942679" y="1182160"/>
            <a:ext cx="10614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해석 결과를 보면 </a:t>
            </a:r>
            <a:r>
              <a:rPr lang="ko-KR" altLang="en-US" dirty="0" err="1"/>
              <a:t>로터</a:t>
            </a:r>
            <a:r>
              <a:rPr lang="ko-KR" altLang="en-US" dirty="0"/>
              <a:t> 주변의 유동이 떨어져 나가는 것을 확인할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 err="1"/>
              <a:t>로터</a:t>
            </a:r>
            <a:r>
              <a:rPr lang="ko-KR" altLang="en-US" dirty="0"/>
              <a:t> 중심 부분에서도 유동의 움직임을 확인할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F342F6-8AF9-1C82-D1B6-028C8AE53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40EACC-482D-A597-4AD9-C002D799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27" y="2147381"/>
            <a:ext cx="8941219" cy="434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6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494</Words>
  <Application>Microsoft Office PowerPoint</Application>
  <PresentationFormat>와이드스크린</PresentationFormat>
  <Paragraphs>32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전산유체해석실습  Report#7</vt:lpstr>
      <vt:lpstr>Report#7_1 (plunging) 초기조건</vt:lpstr>
      <vt:lpstr>PowerPoint 프레젠테이션</vt:lpstr>
      <vt:lpstr>해석 결과(plunging)</vt:lpstr>
      <vt:lpstr>Report#7_2 (plunging+pitching) 초기조건</vt:lpstr>
      <vt:lpstr>PowerPoint 프레젠테이션</vt:lpstr>
      <vt:lpstr>해석 결과(plunging)</vt:lpstr>
      <vt:lpstr>Report#7_3 (caradona_tung) 초기조건</vt:lpstr>
      <vt:lpstr>해석 결과(격자 확인)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30</cp:revision>
  <dcterms:created xsi:type="dcterms:W3CDTF">2025-09-12T05:46:35Z</dcterms:created>
  <dcterms:modified xsi:type="dcterms:W3CDTF">2025-11-06T14:56:05Z</dcterms:modified>
</cp:coreProperties>
</file>