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1" r:id="rId4"/>
    <p:sldId id="273" r:id="rId5"/>
    <p:sldId id="274" r:id="rId6"/>
    <p:sldId id="275" r:id="rId7"/>
    <p:sldId id="276" r:id="rId8"/>
    <p:sldId id="277" r:id="rId9"/>
    <p:sldId id="262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영욱 서" initials="영서" lastIdx="2" clrIdx="0">
    <p:extLst>
      <p:ext uri="{19B8F6BF-5375-455C-9EA6-DF929625EA0E}">
        <p15:presenceInfo xmlns:p15="http://schemas.microsoft.com/office/powerpoint/2012/main" userId="70bb319f796d80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F4C6C3-4B64-4BEE-9E79-9AFC29C19C56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4371EA-D0BF-4D8B-A6A4-CD378511A7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4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53D538-E0BC-7308-28D2-43514F2F5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DDC74A-91F3-28DC-7F97-8EBB3786C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E88BF-38F3-353F-82AF-2FBE6945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45A6F7-0644-5EDA-A4EB-59F281D20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3A42BA-C21F-43E8-D21B-50756A21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414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D2336-B39B-7A87-FECA-207E3EFA2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0CABED-FD39-DDF7-0EC4-87341A30F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2D9D23-CB21-A9E4-535D-EF15C8A01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ECE33B-F7D7-23A6-6049-C5836E062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5A46D0-CA1B-4CED-0873-829296A58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721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631973-E5A6-2BCB-A300-E89AC823A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70CBA4-0AD4-3BD2-9B0D-73ED5E191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A3A908-96D0-50EB-25F6-EAC25CA3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0FD381-55D0-AF97-C9C7-64FBA372F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99B419-03FB-5055-B181-C8E155BF1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334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D07E88-284F-41A3-347B-ABBFB7CFC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FDF03-D9D3-EB28-1A21-E3F418A92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BF90D6-10DC-3101-10E3-93FF46AA1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10B950-880A-FC92-6D92-6F9A15504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1C4088-58AB-0149-C96B-B363E2DA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AE4181-57E7-E574-2A38-2FCFFE9F4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535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7E625-87F0-46AC-264C-5B6023883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239932-1932-E27A-4BEF-2CCF39E2E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6E0941-2273-14B8-E068-EAFC24FBE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C60496-B1A0-3A85-3A48-2DFB64706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E8B5016-7B28-E46A-7E1F-2ED013AE4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D97375-0B57-2BD3-3CD6-8C66E4611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17E821-6E71-E555-D5B8-1D1B85CB2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29440AD-D382-F732-CF5B-A4F1A85C0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160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4622F6-3F11-0AFD-9875-29E70C284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F4CB5A-A43E-464E-F897-4A3066831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A7DF48-D9CE-4582-9618-A01FD921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3F84C1-91F9-C548-7AA3-EDF41EB1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723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230393-DA7A-BC7D-A320-919730A87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C27730F-51AC-F02A-62E4-D5DBCADF7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FBE098-DFC2-4D19-D7A0-F65D07C3C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165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757A73-20B9-171D-AE51-78E573564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7271EF-102B-B419-B574-BED8F0543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7FBA2B-3F51-AE95-C83E-86E888528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7363FC-3258-CC49-302E-FDA2EBECF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736E45-27B3-22FC-6F47-041361070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56A245-A971-209C-06C2-5D2941274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172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5C075-2819-C5D1-6973-447E3C60A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434F13-0F9F-0B39-A6A9-65648A53A3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9FA81E-F20A-3E11-5D75-1766D0542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D12A1C-B942-90CA-111F-5F48792CD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C8F9D6-B03D-CA64-73AE-AB89C021B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1D58BD-81CC-86B6-8A8D-5F14FA24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552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D567D-F862-F277-A832-A7DC065EA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26F215-DAB2-C61E-BDBD-047F4D7F6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6EA279-D659-39B8-2BFB-865CFF649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77EE5-C132-39E5-C8E1-89644174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2B4AC9-59BB-AC32-1E7E-91EE516D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16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F26FDD4-6CCB-7DD2-24B3-C08329360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FEA425-C5C0-6033-9363-A5D575803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AB208B-347E-6199-ADE3-065D1A025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8AAD13-0936-D927-C870-BCAAD71EC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71275F-F4C9-0F07-7E13-05C769FDE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70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8B7BC00-C3EB-448B-C508-6B9707B06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1FE2A5-75F0-E003-F86B-808E3CC41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707D81-1382-7A52-7A52-3D9BC5E666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DE7C39-D66B-42AF-B5B6-308CD87EA44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F3A9A7-28E9-1634-E03D-D15B0406C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BBC988-13B8-A7B3-AEB1-E21C218AA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80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C7AEE9-835B-1C4F-CDAC-9A804C4CA4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 err="1"/>
              <a:t>전산유체해석실습</a:t>
            </a:r>
            <a:r>
              <a:rPr lang="ko-KR" altLang="en-US" sz="4800" dirty="0"/>
              <a:t> </a:t>
            </a:r>
            <a:br>
              <a:rPr lang="en-US" altLang="ko-KR" sz="4800" dirty="0"/>
            </a:br>
            <a:r>
              <a:rPr lang="en-US" altLang="ko-KR" sz="4800" dirty="0"/>
              <a:t>Report#10</a:t>
            </a:r>
            <a:endParaRPr lang="ko-KR" altLang="en-US" sz="4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42D78A-2357-FC35-B7B2-DFA5E54CE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6083"/>
            <a:ext cx="9144000" cy="826367"/>
          </a:xfrm>
        </p:spPr>
        <p:txBody>
          <a:bodyPr/>
          <a:lstStyle/>
          <a:p>
            <a:r>
              <a:rPr lang="en-US" altLang="ko-KR" dirty="0"/>
              <a:t>2021010524 </a:t>
            </a:r>
            <a:r>
              <a:rPr lang="ko-KR" altLang="en-US" dirty="0"/>
              <a:t>서영욱</a:t>
            </a:r>
          </a:p>
        </p:txBody>
      </p:sp>
    </p:spTree>
    <p:extLst>
      <p:ext uri="{BB962C8B-B14F-4D97-AF65-F5344CB8AC3E}">
        <p14:creationId xmlns:p14="http://schemas.microsoft.com/office/powerpoint/2010/main" val="2960814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5B95E-4068-98EF-B9DF-5112B003C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해석조건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D8151-EE0C-EC02-FEF3-C8560195007D}"/>
              </a:ext>
            </a:extLst>
          </p:cNvPr>
          <p:cNvSpPr txBox="1"/>
          <p:nvPr/>
        </p:nvSpPr>
        <p:spPr>
          <a:xfrm>
            <a:off x="458769" y="1341540"/>
            <a:ext cx="5637231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지배방정식</a:t>
            </a:r>
            <a:r>
              <a:rPr lang="en-US" altLang="ko-KR" dirty="0"/>
              <a:t>(Governing Equation): Euler (</a:t>
            </a:r>
            <a:r>
              <a:rPr lang="ko-KR" altLang="en-US" dirty="0" err="1"/>
              <a:t>비점성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해석 유형</a:t>
            </a:r>
            <a:r>
              <a:rPr lang="en-US" altLang="ko-KR" dirty="0"/>
              <a:t>: Direct + Adjoint </a:t>
            </a:r>
            <a:r>
              <a:rPr lang="ko-KR" altLang="en-US" dirty="0"/>
              <a:t>해석 기반 형상최적화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압축성</a:t>
            </a:r>
            <a:r>
              <a:rPr lang="ko-KR" altLang="en-US" dirty="0"/>
              <a:t> 유동</a:t>
            </a:r>
            <a:r>
              <a:rPr lang="en-US" altLang="ko-KR" dirty="0"/>
              <a:t>, </a:t>
            </a:r>
            <a:r>
              <a:rPr lang="ko-KR" altLang="en-US" dirty="0"/>
              <a:t>정상상태</a:t>
            </a:r>
            <a:r>
              <a:rPr lang="en-US" altLang="ko-KR" dirty="0"/>
              <a:t>(Steady)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마하수</a:t>
            </a:r>
            <a:r>
              <a:rPr lang="en-US" altLang="ko-KR" dirty="0"/>
              <a:t>: M = 0.8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받음각</a:t>
            </a:r>
            <a:r>
              <a:rPr lang="en-US" altLang="ko-KR" dirty="0"/>
              <a:t>: α = 1.25°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압력</a:t>
            </a:r>
            <a:r>
              <a:rPr lang="en-US" altLang="ko-KR" dirty="0"/>
              <a:t>: 1.01325 × 10⁵ Pa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온도</a:t>
            </a:r>
            <a:r>
              <a:rPr lang="en-US" altLang="ko-KR" dirty="0"/>
              <a:t>: 288.15 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OBJECTIVE_FUNCTION = DRAG</a:t>
            </a:r>
            <a:r>
              <a:rPr lang="ko-KR" altLang="en-US" dirty="0"/>
              <a:t>를 사용하여 최적화 과정의 목표를 항력</a:t>
            </a:r>
            <a:r>
              <a:rPr lang="en-US" altLang="ko-KR" dirty="0"/>
              <a:t>(CD) </a:t>
            </a:r>
            <a:r>
              <a:rPr lang="ko-KR" altLang="en-US" dirty="0"/>
              <a:t>최소화로 설정하였다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7324484-1994-BD36-513F-34F250DB2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227" y="1300153"/>
            <a:ext cx="5901077" cy="425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59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C0375-18A9-63F4-EB08-89564B71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70AC55-F320-145C-4D3A-B41120CB8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 결과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B5C667-27FB-78C2-E080-EBD2C60A1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4" y="3339454"/>
            <a:ext cx="5892070" cy="28919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3510F8A-53D6-982B-4499-1605B3DB1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302045"/>
            <a:ext cx="6032026" cy="29293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4B8474-A52B-EFFF-2D4D-CC948060813F}"/>
              </a:ext>
            </a:extLst>
          </p:cNvPr>
          <p:cNvSpPr txBox="1"/>
          <p:nvPr/>
        </p:nvSpPr>
        <p:spPr>
          <a:xfrm>
            <a:off x="458769" y="1341540"/>
            <a:ext cx="11428431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해석 결과로 </a:t>
            </a:r>
            <a:r>
              <a:rPr lang="en-US" altLang="ko-KR" dirty="0"/>
              <a:t>DSN_001</a:t>
            </a:r>
            <a:r>
              <a:rPr lang="ko-KR" altLang="en-US" dirty="0"/>
              <a:t>과 </a:t>
            </a:r>
            <a:r>
              <a:rPr lang="en-US" altLang="ko-KR" dirty="0"/>
              <a:t>DSN_032</a:t>
            </a:r>
            <a:r>
              <a:rPr lang="ko-KR" altLang="en-US" dirty="0"/>
              <a:t>를 비교하면 아래 그림과 같다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DSN_001</a:t>
            </a:r>
            <a:r>
              <a:rPr lang="ko-KR" altLang="en-US" dirty="0"/>
              <a:t>의 경우 충격파가 형성됨을 확인할 수 있지만 </a:t>
            </a:r>
            <a:r>
              <a:rPr lang="en-US" altLang="ko-KR" dirty="0"/>
              <a:t>DSN_032</a:t>
            </a:r>
            <a:r>
              <a:rPr lang="ko-KR" altLang="en-US" dirty="0"/>
              <a:t>의 경우 형상최적화를 통해 충격파가 형성되지 못함을 확인할 수 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E90DBF-B0B6-E1E5-9BBF-B9A4580B2DB3}"/>
              </a:ext>
            </a:extLst>
          </p:cNvPr>
          <p:cNvSpPr txBox="1"/>
          <p:nvPr/>
        </p:nvSpPr>
        <p:spPr>
          <a:xfrm>
            <a:off x="2439687" y="6308208"/>
            <a:ext cx="1140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DSN_001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CCFB85-D065-2FF3-3A77-16F839F2DEE1}"/>
              </a:ext>
            </a:extLst>
          </p:cNvPr>
          <p:cNvSpPr txBox="1"/>
          <p:nvPr/>
        </p:nvSpPr>
        <p:spPr>
          <a:xfrm>
            <a:off x="8455559" y="6308208"/>
            <a:ext cx="1140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DSN_032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800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84EE5-6B40-F3AB-4DC1-660D9F360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B9BDCB-A3F4-F22E-7DF5-E97F03D73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 결과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582B2A-9BEE-831F-0B86-E3F9B9A65A47}"/>
              </a:ext>
            </a:extLst>
          </p:cNvPr>
          <p:cNvSpPr txBox="1"/>
          <p:nvPr/>
        </p:nvSpPr>
        <p:spPr>
          <a:xfrm>
            <a:off x="458769" y="1341540"/>
            <a:ext cx="11428431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해석 결과를 압력계수의 분포로 나타내면 다음과 같다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전 슬라이드에서 시각적으로 관찰한 충격파의 형성을 직접 확인할 수 있다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33D6ADC-8271-E839-443F-6654B169C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480" y="2722114"/>
            <a:ext cx="6721776" cy="406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563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97AE7-9223-4175-0C2B-41020E5CD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5EACC3-E803-9B2F-A673-FDF7012ED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 결과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7BA661-9622-C87E-FB4E-6706D76FFC3C}"/>
              </a:ext>
            </a:extLst>
          </p:cNvPr>
          <p:cNvSpPr txBox="1"/>
          <p:nvPr/>
        </p:nvSpPr>
        <p:spPr>
          <a:xfrm>
            <a:off x="458769" y="1341540"/>
            <a:ext cx="11428431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Cfg</a:t>
            </a:r>
            <a:r>
              <a:rPr lang="en-US" altLang="ko-KR" dirty="0"/>
              <a:t> </a:t>
            </a:r>
            <a:r>
              <a:rPr lang="ko-KR" altLang="en-US" dirty="0"/>
              <a:t>파일에서 해석조건 중 </a:t>
            </a:r>
            <a:r>
              <a:rPr lang="en-US" altLang="ko-KR" dirty="0"/>
              <a:t>OBJECTIVE_FUNCTION = DRAG</a:t>
            </a:r>
            <a:r>
              <a:rPr lang="ko-KR" altLang="en-US" dirty="0"/>
              <a:t>로 두었기 때문에 횟수에 따라 항력이 점차 감소함을 확인할 수 있다</a:t>
            </a:r>
            <a:r>
              <a:rPr lang="en-US" altLang="ko-KR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4BF393-82CE-71FA-F6DD-31BB0A635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157" y="2487640"/>
            <a:ext cx="6499416" cy="420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194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B45D1-3761-6F6E-4F20-FED855B24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47E3E2-3E1F-203B-19D7-28801465A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 결과</a:t>
            </a:r>
            <a:r>
              <a:rPr lang="en-US" altLang="ko-KR" sz="3600" dirty="0"/>
              <a:t>(</a:t>
            </a:r>
            <a:r>
              <a:rPr lang="ko-KR" altLang="en-US" sz="3600" dirty="0"/>
              <a:t>추가 해석</a:t>
            </a:r>
            <a:r>
              <a:rPr lang="en-US" altLang="ko-KR" sz="3600" dirty="0"/>
              <a:t>_CL </a:t>
            </a:r>
            <a:r>
              <a:rPr lang="ko-KR" altLang="en-US" sz="3600" dirty="0"/>
              <a:t>값 측정</a:t>
            </a:r>
            <a:r>
              <a:rPr lang="en-US" altLang="ko-KR" sz="3600" dirty="0"/>
              <a:t>)</a:t>
            </a:r>
            <a:endParaRPr lang="ko-KR" altLang="en-US" sz="36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139CBBD-3CF6-0DDD-B98F-F0C66FDF3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892" y="3042327"/>
            <a:ext cx="5502216" cy="35750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5D5956-60AA-4121-32D6-A3EDC8878482}"/>
              </a:ext>
            </a:extLst>
          </p:cNvPr>
          <p:cNvSpPr txBox="1"/>
          <p:nvPr/>
        </p:nvSpPr>
        <p:spPr>
          <a:xfrm>
            <a:off x="487049" y="1372340"/>
            <a:ext cx="11428431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EDD4BB-03AC-AFC0-5F1A-E82ABC68CC77}"/>
              </a:ext>
            </a:extLst>
          </p:cNvPr>
          <p:cNvSpPr txBox="1"/>
          <p:nvPr/>
        </p:nvSpPr>
        <p:spPr>
          <a:xfrm>
            <a:off x="458769" y="1341540"/>
            <a:ext cx="11428431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DRAG </a:t>
            </a:r>
            <a:r>
              <a:rPr lang="ko-KR" altLang="en-US" dirty="0"/>
              <a:t>최소화를 목표로 할 때</a:t>
            </a:r>
            <a:r>
              <a:rPr lang="en-US" altLang="ko-KR" dirty="0"/>
              <a:t>, </a:t>
            </a:r>
            <a:r>
              <a:rPr lang="ko-KR" altLang="en-US" dirty="0"/>
              <a:t>초기 단계에서는 형상 변형 영향이 커 </a:t>
            </a:r>
            <a:r>
              <a:rPr lang="en-US" altLang="ko-KR" dirty="0"/>
              <a:t>CL </a:t>
            </a:r>
            <a:r>
              <a:rPr lang="ko-KR" altLang="en-US" dirty="0"/>
              <a:t>값이 크게 감소하였다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DSN_004~15 </a:t>
            </a:r>
            <a:r>
              <a:rPr lang="ko-KR" altLang="en-US" dirty="0"/>
              <a:t>구간에서는 최적화 탐색 과정에서 </a:t>
            </a:r>
            <a:r>
              <a:rPr lang="en-US" altLang="ko-KR" dirty="0"/>
              <a:t>CL</a:t>
            </a:r>
            <a:r>
              <a:rPr lang="ko-KR" altLang="en-US" dirty="0"/>
              <a:t>이 서서히 회복되는 모습을 보였다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DSN_020 </a:t>
            </a:r>
            <a:r>
              <a:rPr lang="ko-KR" altLang="en-US" dirty="0"/>
              <a:t>이후부터는 형상이 안정화되며 </a:t>
            </a:r>
            <a:r>
              <a:rPr lang="en-US" altLang="ko-KR" dirty="0"/>
              <a:t>CL</a:t>
            </a:r>
            <a:r>
              <a:rPr lang="ko-KR" altLang="en-US" dirty="0"/>
              <a:t>은 약 </a:t>
            </a:r>
            <a:r>
              <a:rPr lang="en-US" altLang="ko-KR" dirty="0"/>
              <a:t>0.085 </a:t>
            </a:r>
            <a:r>
              <a:rPr lang="ko-KR" altLang="en-US" dirty="0"/>
              <a:t>근처에서 일정하게 수렴하였다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1819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B7D0-C816-5D56-9D41-2B37406E8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8D2D2A-5E6B-1A04-CA82-00F17BE19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 결과</a:t>
            </a:r>
            <a:r>
              <a:rPr lang="en-US" altLang="ko-KR" sz="3600" dirty="0"/>
              <a:t>(</a:t>
            </a:r>
            <a:r>
              <a:rPr lang="ko-KR" altLang="en-US" sz="3600" dirty="0"/>
              <a:t>추가 해석</a:t>
            </a:r>
            <a:r>
              <a:rPr lang="en-US" altLang="ko-KR" sz="3600" dirty="0"/>
              <a:t>_</a:t>
            </a:r>
            <a:r>
              <a:rPr lang="ko-KR" altLang="en-US" sz="3600" dirty="0"/>
              <a:t>제약조건 </a:t>
            </a:r>
            <a:r>
              <a:rPr lang="en-US" altLang="ko-KR" sz="3600" dirty="0"/>
              <a:t>: LIFT &gt; 0.33)</a:t>
            </a:r>
            <a:endParaRPr lang="ko-KR" alt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BFC31B-54F5-041E-6F69-41F7F210ABAD}"/>
              </a:ext>
            </a:extLst>
          </p:cNvPr>
          <p:cNvSpPr txBox="1"/>
          <p:nvPr/>
        </p:nvSpPr>
        <p:spPr>
          <a:xfrm>
            <a:off x="458770" y="1341540"/>
            <a:ext cx="6083432" cy="460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이번 해석에서는 항력 최소화를 주목적으로 하되 </a:t>
            </a:r>
            <a:r>
              <a:rPr lang="en-US" altLang="ko-KR" dirty="0"/>
              <a:t>Lift</a:t>
            </a:r>
            <a:r>
              <a:rPr lang="ko-KR" altLang="en-US" dirty="0"/>
              <a:t>가 일정 수준 이하로 감소하지 않도록 제약조건</a:t>
            </a:r>
            <a:r>
              <a:rPr lang="en-US" altLang="ko-KR" dirty="0"/>
              <a:t>: LIFT &gt; 0.33 </a:t>
            </a:r>
            <a:r>
              <a:rPr lang="ko-KR" altLang="en-US" dirty="0"/>
              <a:t>을 포함하여 수행하였다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DSN_001~003</a:t>
            </a:r>
            <a:r>
              <a:rPr lang="ko-KR" altLang="en-US" dirty="0"/>
              <a:t>에서는 기존 형상으로 인해 </a:t>
            </a:r>
            <a:r>
              <a:rPr lang="en-US" altLang="ko-KR" dirty="0"/>
              <a:t>CL</a:t>
            </a:r>
            <a:r>
              <a:rPr lang="ko-KR" altLang="en-US" dirty="0"/>
              <a:t>이 </a:t>
            </a:r>
            <a:r>
              <a:rPr lang="en-US" altLang="ko-KR" dirty="0"/>
              <a:t>1.0 </a:t>
            </a:r>
            <a:r>
              <a:rPr lang="ko-KR" altLang="en-US" dirty="0"/>
              <a:t>이상으로 높게 유지되었다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이후 </a:t>
            </a:r>
            <a:r>
              <a:rPr lang="en-US" altLang="ko-KR" dirty="0"/>
              <a:t>DSN_005~015 </a:t>
            </a:r>
            <a:r>
              <a:rPr lang="ko-KR" altLang="en-US" dirty="0"/>
              <a:t>구간에서는 제약조건</a:t>
            </a:r>
            <a:r>
              <a:rPr lang="en-US" altLang="ko-KR" dirty="0"/>
              <a:t>(LIFT &gt; 0.33)</a:t>
            </a:r>
            <a:r>
              <a:rPr lang="ko-KR" altLang="en-US" dirty="0"/>
              <a:t>의 영향으로 </a:t>
            </a:r>
            <a:r>
              <a:rPr lang="en-US" altLang="ko-KR" dirty="0"/>
              <a:t>CL</a:t>
            </a:r>
            <a:r>
              <a:rPr lang="ko-KR" altLang="en-US" dirty="0"/>
              <a:t>이 점진적으로 다시 회복되고</a:t>
            </a:r>
            <a:r>
              <a:rPr lang="en-US" altLang="ko-KR" dirty="0"/>
              <a:t>, </a:t>
            </a:r>
            <a:r>
              <a:rPr lang="ko-KR" altLang="en-US" dirty="0"/>
              <a:t>변동폭이 줄어들며 안정화되었다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DSN_015 </a:t>
            </a:r>
            <a:r>
              <a:rPr lang="ko-KR" altLang="en-US" dirty="0"/>
              <a:t>이후에는</a:t>
            </a:r>
            <a:r>
              <a:rPr lang="en-US" altLang="ko-KR" dirty="0"/>
              <a:t>CL ≈ 0.33~0.35 </a:t>
            </a:r>
            <a:r>
              <a:rPr lang="ko-KR" altLang="en-US" dirty="0"/>
              <a:t>범위에서 안정적으로 수렴하였고</a:t>
            </a:r>
            <a:r>
              <a:rPr lang="en-US" altLang="ko-KR" dirty="0"/>
              <a:t>, </a:t>
            </a:r>
            <a:r>
              <a:rPr lang="ko-KR" altLang="en-US" dirty="0"/>
              <a:t>제약조건을 만족하면서 </a:t>
            </a:r>
            <a:r>
              <a:rPr lang="en-US" altLang="ko-KR" dirty="0"/>
              <a:t>Drag</a:t>
            </a:r>
            <a:r>
              <a:rPr lang="ko-KR" altLang="en-US" dirty="0"/>
              <a:t>도 감소하는 균형점을 찾은 것으로 판단된다</a:t>
            </a:r>
            <a:r>
              <a:rPr lang="en-US" altLang="ko-KR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F3BA0C-312A-ED47-29C4-5FD9B9169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202" y="1676865"/>
            <a:ext cx="5649922" cy="416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987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AFEE4-A447-FD1F-BA76-895DA27A3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09D480B-7AC4-0DBA-1F4F-261F64E25F5C}"/>
              </a:ext>
            </a:extLst>
          </p:cNvPr>
          <p:cNvSpPr txBox="1"/>
          <p:nvPr/>
        </p:nvSpPr>
        <p:spPr>
          <a:xfrm>
            <a:off x="458770" y="1360394"/>
            <a:ext cx="6083432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최적화의 주 목표는 </a:t>
            </a:r>
            <a:r>
              <a:rPr lang="en-US" altLang="ko-KR" dirty="0"/>
              <a:t>Drag </a:t>
            </a:r>
            <a:r>
              <a:rPr lang="ko-KR" altLang="en-US" dirty="0"/>
              <a:t>최소화이므로</a:t>
            </a:r>
            <a:r>
              <a:rPr lang="en-US" altLang="ko-KR" dirty="0"/>
              <a:t>,CD</a:t>
            </a:r>
            <a:r>
              <a:rPr lang="ko-KR" altLang="en-US" dirty="0"/>
              <a:t>는 전체 설계 단계에서 일관된 감소 경향을 보인다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초반 </a:t>
            </a:r>
            <a:r>
              <a:rPr lang="en-US" altLang="ko-KR" dirty="0"/>
              <a:t>DSN_001~003</a:t>
            </a:r>
            <a:r>
              <a:rPr lang="ko-KR" altLang="en-US" dirty="0"/>
              <a:t>은 초기 형상 때문에 </a:t>
            </a:r>
            <a:r>
              <a:rPr lang="en-US" altLang="ko-KR" dirty="0"/>
              <a:t>CD</a:t>
            </a:r>
            <a:r>
              <a:rPr lang="ko-KR" altLang="en-US" dirty="0"/>
              <a:t>가 약 </a:t>
            </a:r>
            <a:r>
              <a:rPr lang="en-US" altLang="ko-KR" dirty="0"/>
              <a:t>0.10 </a:t>
            </a:r>
            <a:r>
              <a:rPr lang="ko-KR" altLang="en-US" dirty="0"/>
              <a:t>수준으로 비교적 높은 값을 기록하였다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DSN_005~018 </a:t>
            </a:r>
            <a:r>
              <a:rPr lang="ko-KR" altLang="en-US" dirty="0"/>
              <a:t>구간에서는 </a:t>
            </a:r>
            <a:r>
              <a:rPr lang="en-US" altLang="ko-KR" dirty="0"/>
              <a:t>CD</a:t>
            </a:r>
            <a:r>
              <a:rPr lang="ko-KR" altLang="en-US" dirty="0"/>
              <a:t>가 </a:t>
            </a:r>
            <a:r>
              <a:rPr lang="en-US" altLang="ko-KR" dirty="0"/>
              <a:t>0.040 </a:t>
            </a:r>
            <a:r>
              <a:rPr lang="ko-KR" altLang="en-US" dirty="0"/>
              <a:t>범위에서 매우 안정적으로 수렴하였다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LIFT </a:t>
            </a:r>
            <a:r>
              <a:rPr lang="ko-KR" altLang="en-US" dirty="0"/>
              <a:t>제약</a:t>
            </a:r>
            <a:r>
              <a:rPr lang="en-US" altLang="ko-KR" dirty="0"/>
              <a:t>(LIFT &gt; 0.33)</a:t>
            </a:r>
            <a:r>
              <a:rPr lang="ko-KR" altLang="en-US" dirty="0"/>
              <a:t>을 만족시키는 범위 내에서 </a:t>
            </a:r>
            <a:r>
              <a:rPr lang="en-US" altLang="ko-KR" dirty="0"/>
              <a:t>Drag </a:t>
            </a:r>
            <a:r>
              <a:rPr lang="ko-KR" altLang="en-US" dirty="0"/>
              <a:t>최소화가 충분히 이루어졌으며</a:t>
            </a:r>
            <a:r>
              <a:rPr lang="en-US" altLang="ko-KR" dirty="0"/>
              <a:t>, CD</a:t>
            </a:r>
            <a:r>
              <a:rPr lang="ko-KR" altLang="en-US" dirty="0"/>
              <a:t>는 약 </a:t>
            </a:r>
            <a:r>
              <a:rPr lang="en-US" altLang="ko-KR" dirty="0"/>
              <a:t>0.040 </a:t>
            </a:r>
            <a:r>
              <a:rPr lang="ko-KR" altLang="en-US" dirty="0"/>
              <a:t>수준에서 최적해에 도달하였다</a:t>
            </a:r>
            <a:r>
              <a:rPr lang="en-US" altLang="ko-KR" dirty="0"/>
              <a:t>.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01C4D35-9188-0288-58A9-26AE410E2890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/>
              <a:t>해석 결과</a:t>
            </a:r>
            <a:r>
              <a:rPr lang="en-US" altLang="ko-KR" sz="3600"/>
              <a:t>(</a:t>
            </a:r>
            <a:r>
              <a:rPr lang="ko-KR" altLang="en-US" sz="3600"/>
              <a:t>추가 해석</a:t>
            </a:r>
            <a:r>
              <a:rPr lang="en-US" altLang="ko-KR" sz="3600"/>
              <a:t>_</a:t>
            </a:r>
            <a:r>
              <a:rPr lang="ko-KR" altLang="en-US" sz="3600"/>
              <a:t>제약조건 </a:t>
            </a:r>
            <a:r>
              <a:rPr lang="en-US" altLang="ko-KR" sz="3600"/>
              <a:t>: LIFT &gt; 0.33)</a:t>
            </a:r>
            <a:endParaRPr lang="ko-KR" altLang="en-US" sz="36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F059170-EB76-CC60-504F-AFBEC7E3C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202" y="1588610"/>
            <a:ext cx="5608560" cy="390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942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2B117-A861-47BA-BDC0-DE45BD000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300CF-7400-A558-04D0-7A28F8B60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6873" y="3078948"/>
            <a:ext cx="2838254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감사합니다</a:t>
            </a:r>
            <a:r>
              <a:rPr lang="en-US" altLang="ko-KR" sz="3600" dirty="0"/>
              <a:t>.</a:t>
            </a:r>
            <a:endParaRPr lang="ko-KR" alt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72B222-B36F-76C7-DF18-159147CDA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57" y="106523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76AC0E5-EA3B-BEB3-D6CE-3610405DC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5EAD7F-5405-1F78-70B7-078722AC2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DF43B34-92DD-8E78-0CD3-7EC187AF0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57" y="106523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359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2356</TotalTime>
  <Words>394</Words>
  <Application>Microsoft Office PowerPoint</Application>
  <PresentationFormat>와이드스크린</PresentationFormat>
  <Paragraphs>36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전산유체해석실습  Report#10</vt:lpstr>
      <vt:lpstr>해석조건</vt:lpstr>
      <vt:lpstr>해석 결과</vt:lpstr>
      <vt:lpstr>해석 결과</vt:lpstr>
      <vt:lpstr>해석 결과</vt:lpstr>
      <vt:lpstr>해석 결과(추가 해석_CL 값 측정)</vt:lpstr>
      <vt:lpstr>해석 결과(추가 해석_제약조건 : LIFT &gt; 0.33)</vt:lpstr>
      <vt:lpstr>PowerPoint 프레젠테이션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영욱 서</dc:creator>
  <cp:lastModifiedBy>영욱 서</cp:lastModifiedBy>
  <cp:revision>28</cp:revision>
  <dcterms:created xsi:type="dcterms:W3CDTF">2025-09-12T05:46:35Z</dcterms:created>
  <dcterms:modified xsi:type="dcterms:W3CDTF">2025-11-27T13:25:45Z</dcterms:modified>
</cp:coreProperties>
</file>